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45"/>
  </p:normalViewPr>
  <p:slideViewPr>
    <p:cSldViewPr snapToGrid="0" snapToObjects="1">
      <p:cViewPr varScale="1">
        <p:scale>
          <a:sx n="122" d="100"/>
          <a:sy n="122" d="100"/>
        </p:scale>
        <p:origin x="224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Chanel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&lt; €3,000</c:v>
                </c:pt>
                <c:pt idx="1">
                  <c:v>€3,000–4,999</c:v>
                </c:pt>
                <c:pt idx="2">
                  <c:v>€5,000–6,999</c:v>
                </c:pt>
                <c:pt idx="3">
                  <c:v>€7,000–9,999</c:v>
                </c:pt>
                <c:pt idx="4">
                  <c:v>≥ €10,000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2</c:v>
                </c:pt>
                <c:pt idx="2">
                  <c:v>8</c:v>
                </c:pt>
                <c:pt idx="3">
                  <c:v>0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37-1D47-B903-19CB97A2029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Hermès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accent2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&lt; €3,000</c:v>
                </c:pt>
                <c:pt idx="1">
                  <c:v>€3,000–4,999</c:v>
                </c:pt>
                <c:pt idx="2">
                  <c:v>€5,000–6,999</c:v>
                </c:pt>
                <c:pt idx="3">
                  <c:v>€7,000–9,999</c:v>
                </c:pt>
                <c:pt idx="4">
                  <c:v>≥ €10,000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6</c:v>
                </c:pt>
                <c:pt idx="2">
                  <c:v>9</c:v>
                </c:pt>
                <c:pt idx="3">
                  <c:v>4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C37-1D47-B903-19CB97A2029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Louis Vuitton</c:v>
                </c:pt>
              </c:strCache>
            </c:strRef>
          </c:tx>
          <c:spPr>
            <a:solidFill>
              <a:schemeClr val="accent3"/>
            </a:solidFill>
            <a:ln>
              <a:solidFill>
                <a:schemeClr val="accent3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&lt; €3,000</c:v>
                </c:pt>
                <c:pt idx="1">
                  <c:v>€3,000–4,999</c:v>
                </c:pt>
                <c:pt idx="2">
                  <c:v>€5,000–6,999</c:v>
                </c:pt>
                <c:pt idx="3">
                  <c:v>€7,000–9,999</c:v>
                </c:pt>
                <c:pt idx="4">
                  <c:v>≥ €10,000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12</c:v>
                </c:pt>
                <c:pt idx="1">
                  <c:v>8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C37-1D47-B903-19CB97A2029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Dior</c:v>
                </c:pt>
              </c:strCache>
            </c:strRef>
          </c:tx>
          <c:spPr>
            <a:solidFill>
              <a:srgbClr val="A9AFB5"/>
            </a:solidFill>
            <a:ln>
              <a:solidFill>
                <a:srgbClr val="A9AFB5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&lt; €3,000</c:v>
                </c:pt>
                <c:pt idx="1">
                  <c:v>€3,000–4,999</c:v>
                </c:pt>
                <c:pt idx="2">
                  <c:v>€5,000–6,999</c:v>
                </c:pt>
                <c:pt idx="3">
                  <c:v>€7,000–9,999</c:v>
                </c:pt>
                <c:pt idx="4">
                  <c:v>≥ €10,000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</c:v>
                </c:pt>
                <c:pt idx="1">
                  <c:v>19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C37-1D47-B903-19CB97A202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525" cap="flat" cmpd="sng" algn="ctr">
            <a:solidFill>
              <a:srgbClr val="D3CCC2"/>
            </a:solidFill>
            <a:round/>
          </a:ln>
        </c:spPr>
        <c:txPr>
          <a:bodyPr/>
          <a:lstStyle/>
          <a:p>
            <a:pPr>
              <a:defRPr lang="zh-CN" sz="820">
                <a:solidFill>
                  <a:srgbClr val="7B7771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20"/>
          <c:min val="0"/>
        </c:scaling>
        <c:delete val="0"/>
        <c:axPos val="l"/>
        <c:majorGridlines>
          <c:spPr>
            <a:ln w="6350" cap="flat" cmpd="sng" algn="ctr">
              <a:solidFill>
                <a:srgbClr val="D9DED8"/>
              </a:solidFill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9525" cap="flat" cmpd="sng" algn="ctr">
            <a:solidFill>
              <a:srgbClr val="D3CCC2"/>
            </a:solidFill>
            <a:round/>
          </a:ln>
        </c:spPr>
        <c:txPr>
          <a:bodyPr/>
          <a:lstStyle/>
          <a:p>
            <a:pPr>
              <a:defRPr lang="zh-CN" sz="820">
                <a:solidFill>
                  <a:srgbClr val="7B7771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068027336"/>
        <c:crosses val="autoZero"/>
        <c:crossBetween val="between"/>
        <c:majorUnit val="5"/>
      </c:valAx>
      <c:spPr>
        <a:noFill/>
        <a:ln>
          <a:noFill/>
        </a:ln>
      </c:spPr>
    </c:plotArea>
    <c:plotVisOnly val="1"/>
    <c:dispBlanksAs val="gap"/>
    <c:showDLblsOverMax val="1"/>
  </c:chart>
  <c:spPr>
    <a:solidFill>
      <a:srgbClr val="ECE7DE"/>
    </a:solidFill>
    <a:ln>
      <a:noFill/>
    </a:ln>
  </c:spPr>
  <c:txPr>
    <a:bodyPr/>
    <a:lstStyle/>
    <a:p>
      <a:pPr>
        <a:defRPr lang="zh-CN" sz="820">
          <a:solidFill>
            <a:srgbClr val="7B7771"/>
          </a:solidFill>
          <a:latin typeface="Arial"/>
          <a:ea typeface="Microsoft YaHei"/>
          <a:cs typeface="Arial"/>
        </a:defRPr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Chanel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&lt; $4,000</c:v>
                </c:pt>
                <c:pt idx="1">
                  <c:v>$4,000–5,999</c:v>
                </c:pt>
                <c:pt idx="2">
                  <c:v>$6,000–7,999</c:v>
                </c:pt>
                <c:pt idx="3">
                  <c:v>$8,000–10,999</c:v>
                </c:pt>
                <c:pt idx="4">
                  <c:v>≥ $11,000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3</c:v>
                </c:pt>
                <c:pt idx="2">
                  <c:v>8</c:v>
                </c:pt>
                <c:pt idx="3">
                  <c:v>0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57-2B46-B35F-2F90EBF3C11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Hermès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accent2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&lt; $4,000</c:v>
                </c:pt>
                <c:pt idx="1">
                  <c:v>$4,000–5,999</c:v>
                </c:pt>
                <c:pt idx="2">
                  <c:v>$6,000–7,999</c:v>
                </c:pt>
                <c:pt idx="3">
                  <c:v>$8,000–10,999</c:v>
                </c:pt>
                <c:pt idx="4">
                  <c:v>≥ $11,000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11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857-2B46-B35F-2F90EBF3C11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Louis Vuitton</c:v>
                </c:pt>
              </c:strCache>
            </c:strRef>
          </c:tx>
          <c:spPr>
            <a:solidFill>
              <a:schemeClr val="accent3"/>
            </a:solidFill>
            <a:ln>
              <a:solidFill>
                <a:schemeClr val="accent3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&lt; $4,000</c:v>
                </c:pt>
                <c:pt idx="1">
                  <c:v>$4,000–5,999</c:v>
                </c:pt>
                <c:pt idx="2">
                  <c:v>$6,000–7,999</c:v>
                </c:pt>
                <c:pt idx="3">
                  <c:v>$8,000–10,999</c:v>
                </c:pt>
                <c:pt idx="4">
                  <c:v>≥ $11,000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19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857-2B46-B35F-2F90EBF3C11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Dior</c:v>
                </c:pt>
              </c:strCache>
            </c:strRef>
          </c:tx>
          <c:spPr>
            <a:solidFill>
              <a:srgbClr val="A9AFB5"/>
            </a:solidFill>
            <a:ln>
              <a:solidFill>
                <a:srgbClr val="A9AFB5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&lt; $4,000</c:v>
                </c:pt>
                <c:pt idx="1">
                  <c:v>$4,000–5,999</c:v>
                </c:pt>
                <c:pt idx="2">
                  <c:v>$6,000–7,999</c:v>
                </c:pt>
                <c:pt idx="3">
                  <c:v>$8,000–10,999</c:v>
                </c:pt>
                <c:pt idx="4">
                  <c:v>≥ $11,000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5</c:v>
                </c:pt>
                <c:pt idx="1">
                  <c:v>8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857-2B46-B35F-2F90EBF3C1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525" cap="flat" cmpd="sng" algn="ctr">
            <a:solidFill>
              <a:srgbClr val="D3CCC2"/>
            </a:solidFill>
            <a:round/>
          </a:ln>
        </c:spPr>
        <c:txPr>
          <a:bodyPr/>
          <a:lstStyle/>
          <a:p>
            <a:pPr>
              <a:defRPr lang="zh-CN" sz="820">
                <a:solidFill>
                  <a:srgbClr val="7B7771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20"/>
          <c:min val="0"/>
        </c:scaling>
        <c:delete val="0"/>
        <c:axPos val="l"/>
        <c:majorGridlines>
          <c:spPr>
            <a:ln w="6350" cap="flat" cmpd="sng" algn="ctr">
              <a:solidFill>
                <a:srgbClr val="D9DED8"/>
              </a:solidFill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9525" cap="flat" cmpd="sng" algn="ctr">
            <a:solidFill>
              <a:srgbClr val="D3CCC2"/>
            </a:solidFill>
            <a:round/>
          </a:ln>
        </c:spPr>
        <c:txPr>
          <a:bodyPr/>
          <a:lstStyle/>
          <a:p>
            <a:pPr>
              <a:defRPr lang="zh-CN" sz="820">
                <a:solidFill>
                  <a:srgbClr val="7B7771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068027336"/>
        <c:crosses val="autoZero"/>
        <c:crossBetween val="between"/>
        <c:majorUnit val="5"/>
      </c:valAx>
      <c:spPr>
        <a:noFill/>
        <a:ln>
          <a:noFill/>
        </a:ln>
      </c:spPr>
    </c:plotArea>
    <c:plotVisOnly val="1"/>
    <c:dispBlanksAs val="gap"/>
    <c:showDLblsOverMax val="1"/>
  </c:chart>
  <c:spPr>
    <a:solidFill>
      <a:srgbClr val="ECE7DE"/>
    </a:solidFill>
    <a:ln>
      <a:noFill/>
    </a:ln>
  </c:spPr>
  <c:txPr>
    <a:bodyPr/>
    <a:lstStyle/>
    <a:p>
      <a:pPr>
        <a:defRPr lang="zh-CN" sz="820">
          <a:solidFill>
            <a:srgbClr val="7B7771"/>
          </a:solidFill>
          <a:latin typeface="Arial"/>
          <a:ea typeface="Microsoft YaHei"/>
          <a:cs typeface="Arial"/>
        </a:defRPr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Classic median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circle"/>
            <c:size val="5"/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8720</c:v>
                </c:pt>
                <c:pt idx="1">
                  <c:v>9500</c:v>
                </c:pt>
                <c:pt idx="2">
                  <c:v>10100</c:v>
                </c:pt>
                <c:pt idx="3">
                  <c:v>10300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FAD-F64C-B8C0-A345247E29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Mini/access median</c:v>
                </c:pt>
              </c:strCache>
            </c:strRef>
          </c:tx>
          <c:spPr>
            <a:ln>
              <a:solidFill>
                <a:schemeClr val="accent2"/>
              </a:solidFill>
            </a:ln>
          </c:spPr>
          <c:marker>
            <c:symbol val="circle"/>
            <c:size val="5"/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4250</c:v>
                </c:pt>
                <c:pt idx="1">
                  <c:v>4600</c:v>
                </c:pt>
                <c:pt idx="2">
                  <c:v>4850</c:v>
                </c:pt>
                <c:pt idx="3">
                  <c:v>4950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FAD-F64C-B8C0-A345247E29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68027336"/>
        <c:axId val="2113994440"/>
      </c:lineChart>
      <c:catAx>
        <c:axId val="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525" cap="flat" cmpd="sng" algn="ctr">
            <a:solidFill>
              <a:schemeClr val="accent1"/>
            </a:solidFill>
            <a:round/>
          </a:ln>
        </c:spPr>
        <c:txPr>
          <a:bodyPr/>
          <a:lstStyle/>
          <a:p>
            <a:pPr>
              <a:defRPr lang="zh-CN" sz="980">
                <a:solidFill>
                  <a:srgbClr val="7B7771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12000"/>
          <c:min val="0"/>
        </c:scaling>
        <c:delete val="0"/>
        <c:axPos val="l"/>
        <c:majorGridlines>
          <c:spPr>
            <a:ln w="6350" cap="flat" cmpd="sng" algn="ctr">
              <a:solidFill>
                <a:srgbClr val="F6F3EE"/>
              </a:solidFill>
              <a:round/>
            </a:ln>
          </c:spPr>
        </c:majorGridlines>
        <c:numFmt formatCode="\€#,##0" sourceLinked="0"/>
        <c:majorTickMark val="out"/>
        <c:minorTickMark val="none"/>
        <c:tickLblPos val="nextTo"/>
        <c:spPr>
          <a:ln w="9525" cap="flat" cmpd="sng" algn="ctr">
            <a:solidFill>
              <a:schemeClr val="accent1"/>
            </a:solidFill>
            <a:round/>
          </a:ln>
        </c:spPr>
        <c:txPr>
          <a:bodyPr/>
          <a:lstStyle/>
          <a:p>
            <a:pPr>
              <a:defRPr lang="zh-CN" sz="980">
                <a:solidFill>
                  <a:srgbClr val="7B7771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068027336"/>
        <c:crosses val="autoZero"/>
        <c:crossBetween val="between"/>
        <c:majorUnit val="3000"/>
      </c:valAx>
      <c:spPr>
        <a:noFill/>
        <a:ln>
          <a:noFill/>
        </a:ln>
      </c:spPr>
    </c:plotArea>
    <c:plotVisOnly val="1"/>
    <c:dispBlanksAs val="gap"/>
    <c:showDLblsOverMax val="1"/>
  </c:chart>
  <c:spPr>
    <a:solidFill>
      <a:srgbClr val="ECE7DE"/>
    </a:solidFill>
    <a:ln>
      <a:noFill/>
    </a:ln>
  </c:spPr>
  <c:txPr>
    <a:bodyPr/>
    <a:lstStyle/>
    <a:p>
      <a:pPr>
        <a:defRPr lang="zh-CN" sz="980">
          <a:solidFill>
            <a:srgbClr val="7B7771"/>
          </a:solidFill>
          <a:latin typeface="Arial"/>
          <a:ea typeface="Microsoft YaHei"/>
          <a:cs typeface="Arial"/>
        </a:defRPr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这份汇报讨论的是公开本地标价如何呈现奢侈品手袋的竞争位置、价格梯度和经典产品锚点。观察范围覆盖法国和美国当前价格，以及 2020 到 2026 的历史面板；它是竞争性定位诊断，不是未来价格建议。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这一页先给出核心判断：Chanel 的差异不是所有产品都更贵，而是较高入口、可见价格间隔和 Classic 高位锚点同时出现。法国最低观察价格是 €4,850，数值 Classic 从 €10,000 起，Classic 与非 Classic 中位数约为 1.81 倍。历史数据还会显示 Mini 和 Classic 都在上移。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单一品牌排名会把不同购买层级混在一起。法国低于 €3,000 的样本主要由 Louis Vuitton 构成，€3,000 到 €4,999 更密集的是 Dior 和 Louis Vuitton，而 €10,000 以上的数值观察全部来自 Chanel。美国结构相近但价格带更宽。这里的零只表示本次采样没有捕获数值观察，不表示全球没有产品。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范围图比单一中位数更能说明架构。Chanel 的法国起点是 €4,850，中位数 €6,500；Louis Vuitton 和 Dior 更集中在低中价区；Hermès 的范围最宽，向上端延伸更明显。法国和美国使用独立坐标轴，不能把两种本地货币直接放在同一尺度上比较。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Chanel 当前可见样本形成两个主要价格集群：入门和核心产品约为法国 €4,850 到 €6,700，数值 Classic 约为 €10,000 到 €12,250，中间可见间隔是 €3,300。美国对应为 $5,400 到 $7,400、$11,000 到 $13,500 和 $3,600。询价状态保留为非数值，不做插值。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这是整套汇报最关键的历史证据。共同观察年份中，Classic 中位数从 €8,720 升至 €10,300，Mini 或进入组从 €4,250 升至 €4,950，涨幅分别约为 18.1% 和 16.5%。比值只从 2.052 倍到 2.081 倍，而绝对价差从 €4,470 扩大到 €5,350，说明整体上移与高位锚点并存。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四个品牌不是同一种 premiumization。Louis Vuitton 保留较低入口和较宽的入门核心梯，Dior 更集中于核心和中高端，Hermès 的当前范围更宽并延伸至上端，Chanel 则组合了高入口、Classic 锚点和两个可见集群。历史栏保留同款连续与后续版本的证据差异。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把当前差异压缩成三个结构事实：Chanel 的最低观察价格高于本次看到的 LV 和 Dior；Classic 与非 Classic 中位数约为 1.81 倍法国、1.80 倍美国；入门核心到 Classic 之间还有 €3,300 和 $3,600 的可见间隔。三者同时出现，才构成 distinctive pricing architecture。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这一页把观察转成管理层可用的结构性含义，但不暗示品牌管理意图。较高入口带来更强的排他性信号，Classic 形成清晰锚点，中间可见梯度较薄，竞争对象也会随价格层级变化。每个含义后面都保留边界：这不是可负担性、因果品牌溢价或消费者替代份额的证据。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最后只保留三句话。竞争是分层的；Chanel 是结构性不同，而不是简单更贵；历史证据支持 broad repricing 加 persistent Classic anchor，而不是 icon-only repricing。请把结论理解为公开标价的竞争定位诊断，不要把它当成未来价格建议。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附录先说明数据边界。当前面板有 161 条 accepted observations，其中 147 条是数值价格；Chanel 的缺失主要是询价，Dior 有未解析记录。历史面板有 77 条 accepted、76 条数值观察和 13 条产品线，其中 7 条同款连续、6 条后续版本。缺失年份不等于零变化。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France 的 tote 方向性可比单元显示，Chanel 在 large leather tote 和 standard leather tote 中位数分别为 €6,200 和 €5,700，高于同单元的 Dior 或 Louis Vuitton，并接近或低于 Hermès。这里的单元口径较宽，部分样本量很小，因此只能支持相对位置提示，不能升级为严格同款替代关系。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历史证据强度并不对称。Chanel 有四条选定的同款连续线，最适合支撑自身架构演变；Louis Vuitton 有部分连续线和部分后续版本；Dior 没有接受的同款连续线；Hermès 证据稀疏且存在 Geta 冲突。因此不能据此给四品牌做同等精度的历史涨价排名。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最后的 France–US 比值只回答 exact-reference local display mapping。Chanel 的中位数比值是 1.11，Dior 1.19，Louis Vuitton 1.24，Hermès 1.44；这些数字没有做汇率、增值税或销售税、关税和落地成本标准化，所以不能写成 geographic premium。到这里，竞争定位诊断完成。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uxury_handbag_pricing_strategy_final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ury_handbag_pricing_strategy_final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552450" y="553402"/>
            <a:ext cx="11073384" cy="6187059"/>
            <a:chOff x="552450" y="553402"/>
            <a:chExt cx="11073384" cy="6187059"/>
          </a:xfrm>
        </p:grpSpPr>
        <p:sp>
          <p:nvSpPr>
            <p:cNvPr id="3" name="Line 3"/>
            <p:cNvSpPr/>
            <p:nvPr/>
          </p:nvSpPr>
          <p:spPr>
            <a:xfrm>
              <a:off x="571500" y="8763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66166" y="553402"/>
              <a:ext cx="31781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LUXURY PRICING / STRATEGY BRIEF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2450" y="1911668"/>
              <a:ext cx="5258752" cy="15335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400"/>
                </a:lnSpc>
              </a:pPr>
              <a:r>
                <a:rPr lang="zh-CN" sz="4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奢侈品手袋</a:t>
              </a:r>
              <a:br/>
              <a:r>
                <a:rPr lang="zh-CN" sz="4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竞争性定价策略分析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0832" y="3488055"/>
              <a:ext cx="767433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Chanel、Hermès、Louis Vuitton 与 Dior 的价格架构与演变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417195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63880" y="4600575"/>
              <a:ext cx="498729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France &amp; US official list prices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Current snapshot: 2026 · Historical panel: 2020–2026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80399" y="6096952"/>
              <a:ext cx="29454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PRICING ARCHITECTURE / EVIDENCE BOUNDED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71500" y="638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B9B0A3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66166" y="6535102"/>
              <a:ext cx="49312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Observed 15 Aug 2026 · Current and historical structured pricing panel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141640" y="65351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01 / 14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9689" y="458152"/>
            <a:ext cx="11060811" cy="1170623"/>
            <a:chOff x="559689" y="458152"/>
            <a:chExt cx="11060811" cy="1170623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458152"/>
              <a:ext cx="2052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EXECUTIVE THESIS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689" y="796766"/>
              <a:ext cx="8809787" cy="7976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23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Chanel 的差异不只是“更贵”，而是较高入口与 Classic 高位锚点</a:t>
              </a:r>
              <a:br/>
              <a:r>
                <a:rPr lang="zh-CN" sz="23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共同构成的价格架构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619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563880" y="1934528"/>
            <a:ext cx="6960870" cy="2647378"/>
            <a:chOff x="563880" y="1934528"/>
            <a:chExt cx="6960870" cy="2647378"/>
          </a:xfrm>
        </p:grpSpPr>
        <p:sp>
          <p:nvSpPr>
            <p:cNvPr id="6" name="TextBox 6"/>
            <p:cNvSpPr txBox="1"/>
            <p:nvPr/>
          </p:nvSpPr>
          <p:spPr>
            <a:xfrm>
              <a:off x="566166" y="1934528"/>
              <a:ext cx="14298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OBSERVED / FRANCE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71500" y="2238375"/>
              <a:ext cx="1809750" cy="106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4192" y="2426018"/>
              <a:ext cx="136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6F3EE"/>
                  </a:solidFill>
                  <a:latin typeface="+mn-lt"/>
                  <a:ea typeface="+mn-ea"/>
                  <a:cs typeface="+mn-cs"/>
                </a:rPr>
                <a:t>LOWER / CORE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74954" y="2785110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6F3EE"/>
                  </a:solidFill>
                  <a:latin typeface="+mn-lt"/>
                  <a:ea typeface="+mn-ea"/>
                  <a:cs typeface="+mn-cs"/>
                </a:rPr>
                <a:t>€4,850–€6,700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2381250" y="27622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009900" y="2628900"/>
              <a:ext cx="133350" cy="266700"/>
            </a:xfrm>
            <a:custGeom>
              <a:avLst/>
              <a:gdLst/>
              <a:ahLst/>
              <a:cxnLst/>
              <a:rect l="l" t="t" r="r" b="b"/>
              <a:pathLst>
                <a:path w="133350" h="266700">
                  <a:moveTo>
                    <a:pt x="0" y="0"/>
                  </a:moveTo>
                  <a:lnTo>
                    <a:pt x="133350" y="133350"/>
                  </a:lnTo>
                  <a:lnTo>
                    <a:pt x="0" y="26670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3143250" y="2238375"/>
              <a:ext cx="1381125" cy="10668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345942" y="2426018"/>
              <a:ext cx="6891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VISIBLE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345942" y="2683192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GAP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47085" y="301228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€3,300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4524375" y="27622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5153025" y="2628900"/>
              <a:ext cx="133350" cy="266700"/>
            </a:xfrm>
            <a:custGeom>
              <a:avLst/>
              <a:gdLst/>
              <a:ahLst/>
              <a:cxnLst/>
              <a:rect l="l" t="t" r="r" b="b"/>
              <a:pathLst>
                <a:path w="133350" h="266700">
                  <a:moveTo>
                    <a:pt x="0" y="0"/>
                  </a:moveTo>
                  <a:lnTo>
                    <a:pt x="133350" y="133350"/>
                  </a:lnTo>
                  <a:lnTo>
                    <a:pt x="0" y="2667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286375" y="2238375"/>
              <a:ext cx="2238375" cy="106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517642" y="2426018"/>
              <a:ext cx="15057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6F3EE"/>
                  </a:solidFill>
                  <a:latin typeface="+mn-lt"/>
                  <a:ea typeface="+mn-ea"/>
                  <a:cs typeface="+mn-cs"/>
                </a:rPr>
                <a:t>CLASSIC ANCHOR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18404" y="2785110"/>
              <a:ext cx="18941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6F3EE"/>
                  </a:solidFill>
                  <a:latin typeface="+mn-lt"/>
                  <a:ea typeface="+mn-ea"/>
                  <a:cs typeface="+mn-cs"/>
                </a:rPr>
                <a:t>€10,000+ starting point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571500" y="3733800"/>
              <a:ext cx="6953250" cy="9525"/>
            </a:xfrm>
            <a:custGeom>
              <a:avLst/>
              <a:gdLst/>
              <a:ahLst/>
              <a:cxnLst/>
              <a:rect l="l" t="t" r="r" b="b"/>
              <a:pathLst>
                <a:path w="6953250" h="9525">
                  <a:moveTo>
                    <a:pt x="0" y="0"/>
                  </a:moveTo>
                  <a:lnTo>
                    <a:pt x="6953250" y="0"/>
                  </a:lnTo>
                </a:path>
              </a:pathLst>
            </a:custGeom>
            <a:noFill/>
            <a:ln w="9525">
              <a:solidFill>
                <a:srgbClr val="B9B0A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63880" y="393382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价格结构的重点：入口、间隔与锚点同时存在。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5404" y="4347210"/>
              <a:ext cx="6815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US confirmation: $5,400–$7,400 → $3,600 visible gap → $11,000+ Classic starting point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191500" y="1857375"/>
            <a:ext cx="2857500" cy="3402520"/>
            <a:chOff x="8191500" y="1857375"/>
            <a:chExt cx="2857500" cy="3402520"/>
          </a:xfrm>
        </p:grpSpPr>
        <p:sp>
          <p:nvSpPr>
            <p:cNvPr id="25" name="Line 25"/>
            <p:cNvSpPr/>
            <p:nvPr/>
          </p:nvSpPr>
          <p:spPr>
            <a:xfrm>
              <a:off x="8191500" y="1857375"/>
              <a:ext cx="9525" cy="3143250"/>
            </a:xfrm>
            <a:custGeom>
              <a:avLst/>
              <a:gdLst/>
              <a:ahLst/>
              <a:cxnLst/>
              <a:rect l="l" t="t" r="r" b="b"/>
              <a:pathLst>
                <a:path w="9525" h="3143250">
                  <a:moveTo>
                    <a:pt x="0" y="0"/>
                  </a:moveTo>
                  <a:lnTo>
                    <a:pt x="0" y="314325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66785" y="2212181"/>
              <a:ext cx="1826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LOWEST OBSERVED / FR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58022" y="2473642"/>
              <a:ext cx="135836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€4,850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8572500" y="302895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B9B0A3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566785" y="3355181"/>
              <a:ext cx="18598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CLASSIC STARTING POINT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58022" y="3616642"/>
              <a:ext cx="180149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€10,000+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8572500" y="417195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B9B0A3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566785" y="4498181"/>
              <a:ext cx="24034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CLASSIC / NON-CLASSIC MEDIAN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58022" y="4702492"/>
              <a:ext cx="113679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1.81×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63880" y="5334000"/>
            <a:ext cx="11061954" cy="1406461"/>
            <a:chOff x="563880" y="5334000"/>
            <a:chExt cx="11061954" cy="1406461"/>
          </a:xfrm>
        </p:grpSpPr>
        <p:sp>
          <p:nvSpPr>
            <p:cNvPr id="35" name="Line 35"/>
            <p:cNvSpPr/>
            <p:nvPr/>
          </p:nvSpPr>
          <p:spPr>
            <a:xfrm>
              <a:off x="571500" y="5334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63880" y="5553075"/>
              <a:ext cx="4759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历史数据进一步显示：Mini 与 Classic 都在上移。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5404" y="5871210"/>
              <a:ext cx="7161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因此今天的结构不是 Classic 单独涨价形成，而是整体价格体系上移、同时维持 Classic 高位锚点。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66166" y="6535102"/>
              <a:ext cx="64050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Source: brand_price_summary.csv; family_price_summary.csv; icon_premium_summary.csv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141640" y="65351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02 / 14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9689" y="458152"/>
            <a:ext cx="11060811" cy="1227773"/>
            <a:chOff x="559689" y="458152"/>
            <a:chExt cx="11060811" cy="1227773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458152"/>
              <a:ext cx="25770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COMPETITIVE SPECTRUM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689" y="815816"/>
              <a:ext cx="5932627" cy="7976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23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奢侈品手袋竞争不是固定的“品牌对品牌”，</a:t>
              </a:r>
              <a:br/>
              <a:r>
                <a:rPr lang="zh-CN" sz="23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而是随价格层级变化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6764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71500" y="1685925"/>
            <a:ext cx="11054334" cy="215836"/>
            <a:chOff x="571500" y="1685925"/>
            <a:chExt cx="11054334" cy="215836"/>
          </a:xfrm>
        </p:grpSpPr>
        <p:sp>
          <p:nvSpPr>
            <p:cNvPr id="6" name="Rectangle 6"/>
            <p:cNvSpPr/>
            <p:nvPr/>
          </p:nvSpPr>
          <p:spPr>
            <a:xfrm>
              <a:off x="571500" y="1685925"/>
              <a:ext cx="133350" cy="133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5716" y="1696402"/>
              <a:ext cx="445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Chanel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733550" y="1685925"/>
              <a:ext cx="133350" cy="1333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37766" y="1696402"/>
              <a:ext cx="5100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Hermès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000375" y="1685925"/>
              <a:ext cx="133350" cy="1333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204591" y="1696402"/>
              <a:ext cx="9238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Louis Vuitton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524375" y="1685925"/>
              <a:ext cx="133350" cy="133350"/>
            </a:xfrm>
            <a:prstGeom prst="rect">
              <a:avLst/>
            </a:prstGeom>
            <a:solidFill>
              <a:srgbClr val="A9AFB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728591" y="1696402"/>
              <a:ext cx="2902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Dior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26048" y="1696402"/>
              <a:ext cx="2799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Numeric observations by local price band</a:t>
              </a:r>
            </a:p>
          </p:txBody>
        </p:sp>
      </p:grpSp>
      <p:graphicFrame>
        <p:nvGraphicFramePr>
          <p:cNvPr id="16" name="fr-price-band-counts"/>
          <p:cNvGraphicFramePr>
            <a:graphicFrameLocks noGrp="1"/>
          </p:cNvGraphicFramePr>
          <p:nvPr/>
        </p:nvGraphicFramePr>
        <p:xfrm>
          <a:off x="933450" y="2190750"/>
          <a:ext cx="4476750" cy="3000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us-price-band-counts"/>
          <p:cNvGraphicFramePr>
            <a:graphicFrameLocks noGrp="1"/>
          </p:cNvGraphicFramePr>
          <p:nvPr/>
        </p:nvGraphicFramePr>
        <p:xfrm>
          <a:off x="6838950" y="2190750"/>
          <a:ext cx="4476750" cy="3000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1" name="Group 21"/>
          <p:cNvGrpSpPr/>
          <p:nvPr/>
        </p:nvGrpSpPr>
        <p:grpSpPr>
          <a:xfrm>
            <a:off x="565404" y="5680710"/>
            <a:ext cx="11060430" cy="1059751"/>
            <a:chOff x="565404" y="5680710"/>
            <a:chExt cx="11060430" cy="1059751"/>
          </a:xfrm>
        </p:grpSpPr>
        <p:sp>
          <p:nvSpPr>
            <p:cNvPr id="18" name="TextBox 18"/>
            <p:cNvSpPr txBox="1"/>
            <p:nvPr/>
          </p:nvSpPr>
          <p:spPr>
            <a:xfrm>
              <a:off x="565404" y="5680710"/>
              <a:ext cx="68400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FR: LV 在 &lt;€3,000 最密集；Dior 在 €3,000–4,999 最密集；≥€10,000 全部为 Chanel。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6166" y="5925502"/>
              <a:ext cx="83120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0 = no captured numeric observation, not no product globally · Source: price_band_summary.csv · observed 15 Aug 2026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141640" y="65351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03 / 14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9689" y="458152"/>
            <a:ext cx="11060811" cy="1227773"/>
            <a:chOff x="559689" y="458152"/>
            <a:chExt cx="11060811" cy="1227773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458152"/>
              <a:ext cx="25221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CURRENT ARCHITECTURE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689" y="815816"/>
              <a:ext cx="5313883" cy="7976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23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四个品牌不是简单的“价格高低关系”，</a:t>
              </a:r>
              <a:br/>
              <a:r>
                <a:rPr lang="zh-CN" sz="23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而是形成不同的价格梯度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6764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571500" y="1809750"/>
            <a:ext cx="11049000" cy="1812607"/>
            <a:chOff x="571500" y="1809750"/>
            <a:chExt cx="11049000" cy="1812607"/>
          </a:xfrm>
        </p:grpSpPr>
        <p:sp>
          <p:nvSpPr>
            <p:cNvPr id="6" name="Rectangle 6"/>
            <p:cNvSpPr/>
            <p:nvPr/>
          </p:nvSpPr>
          <p:spPr>
            <a:xfrm>
              <a:off x="571500" y="1809750"/>
              <a:ext cx="11049000" cy="18097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5335" y="1955006"/>
              <a:ext cx="1031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FRANCE / EUR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292829" y="1971199"/>
              <a:ext cx="19516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min · P25 · median · P75 · max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2857500" y="2333625"/>
              <a:ext cx="8191500" cy="1009650"/>
              <a:chOff x="2857500" y="2333625"/>
              <a:chExt cx="8191500" cy="1009650"/>
            </a:xfrm>
          </p:grpSpPr>
          <p:sp>
            <p:nvSpPr>
              <p:cNvPr id="9" name="Line 9"/>
              <p:cNvSpPr/>
              <p:nvPr/>
            </p:nvSpPr>
            <p:spPr>
              <a:xfrm>
                <a:off x="2857500" y="2333625"/>
                <a:ext cx="819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191500" h="9525">
                    <a:moveTo>
                      <a:pt x="0" y="0"/>
                    </a:moveTo>
                    <a:lnTo>
                      <a:pt x="8191500" y="0"/>
                    </a:lnTo>
                  </a:path>
                </a:pathLst>
              </a:custGeom>
              <a:noFill/>
              <a:ln w="9525">
                <a:solidFill>
                  <a:srgbClr val="D3CCC2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2857500" y="2667000"/>
                <a:ext cx="819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191500" h="9525">
                    <a:moveTo>
                      <a:pt x="0" y="0"/>
                    </a:moveTo>
                    <a:lnTo>
                      <a:pt x="8191500" y="0"/>
                    </a:lnTo>
                  </a:path>
                </a:pathLst>
              </a:custGeom>
              <a:noFill/>
              <a:ln w="9525">
                <a:solidFill>
                  <a:srgbClr val="D3CCC2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2857500" y="3000375"/>
                <a:ext cx="819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191500" h="9525">
                    <a:moveTo>
                      <a:pt x="0" y="0"/>
                    </a:moveTo>
                    <a:lnTo>
                      <a:pt x="8191500" y="0"/>
                    </a:lnTo>
                  </a:path>
                </a:pathLst>
              </a:custGeom>
              <a:noFill/>
              <a:ln w="9525">
                <a:solidFill>
                  <a:srgbClr val="D3CCC2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2857500" y="3333750"/>
                <a:ext cx="819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191500" h="9525">
                    <a:moveTo>
                      <a:pt x="0" y="0"/>
                    </a:moveTo>
                    <a:lnTo>
                      <a:pt x="8191500" y="0"/>
                    </a:lnTo>
                  </a:path>
                </a:pathLst>
              </a:custGeom>
              <a:noFill/>
              <a:ln w="9525">
                <a:solidFill>
                  <a:srgbClr val="D3CCC2"/>
                </a:solidFill>
              </a:ln>
            </p:spPr>
          </p:sp>
        </p:grpSp>
        <p:grpSp>
          <p:nvGrpSpPr>
            <p:cNvPr id="18" name="Group 18"/>
            <p:cNvGrpSpPr/>
            <p:nvPr/>
          </p:nvGrpSpPr>
          <p:grpSpPr>
            <a:xfrm>
              <a:off x="774954" y="2251710"/>
              <a:ext cx="1108009" cy="1234821"/>
              <a:chOff x="774954" y="2251710"/>
              <a:chExt cx="1108009" cy="1234821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774954" y="2251710"/>
                <a:ext cx="53441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Chanel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74954" y="2585085"/>
                <a:ext cx="6114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Hermès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74954" y="2918460"/>
                <a:ext cx="110800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Louis Vuitton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74954" y="3251835"/>
                <a:ext cx="34763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Dior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3905250" y="2333625"/>
              <a:ext cx="6115050" cy="1009650"/>
              <a:chOff x="3905250" y="2333625"/>
              <a:chExt cx="6115050" cy="1009650"/>
            </a:xfrm>
          </p:grpSpPr>
          <p:sp>
            <p:nvSpPr>
              <p:cNvPr id="19" name="Line 19"/>
              <p:cNvSpPr/>
              <p:nvPr/>
            </p:nvSpPr>
            <p:spPr>
              <a:xfrm>
                <a:off x="5686425" y="2333625"/>
                <a:ext cx="4333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33875" h="9525">
                    <a:moveTo>
                      <a:pt x="0" y="0"/>
                    </a:moveTo>
                    <a:lnTo>
                      <a:pt x="4333875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4124325" y="2667000"/>
                <a:ext cx="4057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057650" h="9525">
                    <a:moveTo>
                      <a:pt x="0" y="0"/>
                    </a:moveTo>
                    <a:lnTo>
                      <a:pt x="405765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3905250" y="3000375"/>
                <a:ext cx="1171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71575" h="9525">
                    <a:moveTo>
                      <a:pt x="0" y="0"/>
                    </a:moveTo>
                    <a:lnTo>
                      <a:pt x="1171575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4610100" y="3333750"/>
                <a:ext cx="876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76300" h="9525">
                    <a:moveTo>
                      <a:pt x="0" y="0"/>
                    </a:moveTo>
                    <a:lnTo>
                      <a:pt x="87630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</p:grpSp>
        <p:grpSp>
          <p:nvGrpSpPr>
            <p:cNvPr id="32" name="Group 32"/>
            <p:cNvGrpSpPr/>
            <p:nvPr/>
          </p:nvGrpSpPr>
          <p:grpSpPr>
            <a:xfrm>
              <a:off x="3905250" y="2257425"/>
              <a:ext cx="6124575" cy="1152525"/>
              <a:chOff x="3905250" y="2257425"/>
              <a:chExt cx="6124575" cy="1152525"/>
            </a:xfrm>
          </p:grpSpPr>
          <p:sp>
            <p:nvSpPr>
              <p:cNvPr id="24" name="Line 24"/>
              <p:cNvSpPr/>
              <p:nvPr/>
            </p:nvSpPr>
            <p:spPr>
              <a:xfrm>
                <a:off x="5686425" y="2257425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5" name="Line 25"/>
              <p:cNvSpPr/>
              <p:nvPr/>
            </p:nvSpPr>
            <p:spPr>
              <a:xfrm>
                <a:off x="10020300" y="2257425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4124325" y="25908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8181975" y="25908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3905250" y="2924175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5076825" y="2924175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4610100" y="325755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5486400" y="325755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grpSp>
          <p:nvGrpSpPr>
            <p:cNvPr id="37" name="Group 37"/>
            <p:cNvGrpSpPr/>
            <p:nvPr/>
          </p:nvGrpSpPr>
          <p:grpSpPr>
            <a:xfrm>
              <a:off x="4181475" y="2286000"/>
              <a:ext cx="2114550" cy="1095375"/>
              <a:chOff x="4181475" y="2286000"/>
              <a:chExt cx="2114550" cy="1095375"/>
            </a:xfrm>
          </p:grpSpPr>
          <p:sp>
            <p:nvSpPr>
              <p:cNvPr id="33" name="Ellipse 33"/>
              <p:cNvSpPr/>
              <p:nvPr/>
            </p:nvSpPr>
            <p:spPr>
              <a:xfrm>
                <a:off x="6200775" y="2286000"/>
                <a:ext cx="95250" cy="952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34" name="Ellipse 34"/>
              <p:cNvSpPr/>
              <p:nvPr/>
            </p:nvSpPr>
            <p:spPr>
              <a:xfrm>
                <a:off x="5219700" y="2619375"/>
                <a:ext cx="95250" cy="952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4181475" y="2952750"/>
                <a:ext cx="95250" cy="952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4676775" y="3286125"/>
                <a:ext cx="95250" cy="952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</p:grpSp>
        <p:grpSp>
          <p:nvGrpSpPr>
            <p:cNvPr id="42" name="Group 42"/>
            <p:cNvGrpSpPr/>
            <p:nvPr/>
          </p:nvGrpSpPr>
          <p:grpSpPr>
            <a:xfrm>
              <a:off x="4429125" y="2266950"/>
              <a:ext cx="2295525" cy="1133475"/>
              <a:chOff x="4429125" y="2266950"/>
              <a:chExt cx="2295525" cy="1133475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6591300" y="2266950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6010275" y="2600325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0" name="Ellipse 40"/>
              <p:cNvSpPr/>
              <p:nvPr/>
            </p:nvSpPr>
            <p:spPr>
              <a:xfrm>
                <a:off x="4429125" y="2933700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4810125" y="3267075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47" name="Group 47"/>
            <p:cNvGrpSpPr/>
            <p:nvPr/>
          </p:nvGrpSpPr>
          <p:grpSpPr>
            <a:xfrm>
              <a:off x="4724400" y="2286000"/>
              <a:ext cx="4095750" cy="1095375"/>
              <a:chOff x="4724400" y="2286000"/>
              <a:chExt cx="4095750" cy="1095375"/>
            </a:xfrm>
          </p:grpSpPr>
          <p:sp>
            <p:nvSpPr>
              <p:cNvPr id="43" name="Ellipse 43"/>
              <p:cNvSpPr/>
              <p:nvPr/>
            </p:nvSpPr>
            <p:spPr>
              <a:xfrm>
                <a:off x="8724900" y="2286000"/>
                <a:ext cx="95250" cy="952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44" name="Ellipse 44"/>
              <p:cNvSpPr/>
              <p:nvPr/>
            </p:nvSpPr>
            <p:spPr>
              <a:xfrm>
                <a:off x="6400800" y="2619375"/>
                <a:ext cx="95250" cy="952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4724400" y="2952750"/>
                <a:ext cx="95250" cy="952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46" name="Ellipse 46"/>
              <p:cNvSpPr/>
              <p:nvPr/>
            </p:nvSpPr>
            <p:spPr>
              <a:xfrm>
                <a:off x="4943475" y="3286125"/>
                <a:ext cx="95250" cy="952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2"/>
                </a:solidFill>
              </a:ln>
            </p:spPr>
          </p:sp>
        </p:grpSp>
        <p:grpSp>
          <p:nvGrpSpPr>
            <p:cNvPr id="52" name="Group 52"/>
            <p:cNvGrpSpPr/>
            <p:nvPr/>
          </p:nvGrpSpPr>
          <p:grpSpPr>
            <a:xfrm>
              <a:off x="4585112" y="2079689"/>
              <a:ext cx="3065274" cy="1527572"/>
              <a:chOff x="4585112" y="2079689"/>
              <a:chExt cx="3065274" cy="1527572"/>
            </a:xfrm>
          </p:grpSpPr>
          <p:sp>
            <p:nvSpPr>
              <p:cNvPr id="48" name="TextBox 48"/>
              <p:cNvSpPr txBox="1"/>
              <p:nvPr/>
            </p:nvSpPr>
            <p:spPr>
              <a:xfrm>
                <a:off x="6736776" y="2079689"/>
                <a:ext cx="91361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median €6,500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096000" y="2775965"/>
                <a:ext cx="44526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€5,500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4585112" y="2799208"/>
                <a:ext cx="44526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€2,800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4871519" y="3416571"/>
                <a:ext cx="44526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€3,450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2819419" y="3446145"/>
              <a:ext cx="8334299" cy="176212"/>
              <a:chOff x="2819419" y="3446145"/>
              <a:chExt cx="8334299" cy="176212"/>
            </a:xfrm>
          </p:grpSpPr>
          <p:sp>
            <p:nvSpPr>
              <p:cNvPr id="53" name="TextBox 53"/>
              <p:cNvSpPr txBox="1"/>
              <p:nvPr/>
            </p:nvSpPr>
            <p:spPr>
              <a:xfrm>
                <a:off x="2819419" y="3446145"/>
                <a:ext cx="761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7B7771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5710276" y="3446145"/>
                <a:ext cx="14279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7B7771"/>
                    </a:solidFill>
                    <a:latin typeface="+mn-lt"/>
                    <a:ea typeface="+mn-ea"/>
                    <a:cs typeface="+mn-cs"/>
                  </a:rPr>
                  <a:t>5k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601132" y="3446145"/>
                <a:ext cx="20943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7B7771"/>
                    </a:solidFill>
                    <a:latin typeface="+mn-lt"/>
                    <a:ea typeface="+mn-ea"/>
                    <a:cs typeface="+mn-cs"/>
                  </a:rPr>
                  <a:t>10k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0944282" y="3446145"/>
                <a:ext cx="20943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7B7771"/>
                    </a:solidFill>
                    <a:latin typeface="+mn-lt"/>
                    <a:ea typeface="+mn-ea"/>
                    <a:cs typeface="+mn-cs"/>
                  </a:rPr>
                  <a:t>14k</a:t>
                </a:r>
              </a:p>
            </p:txBody>
          </p:sp>
        </p:grpSp>
      </p:grpSp>
      <p:grpSp>
        <p:nvGrpSpPr>
          <p:cNvPr id="111" name="Group 111"/>
          <p:cNvGrpSpPr/>
          <p:nvPr/>
        </p:nvGrpSpPr>
        <p:grpSpPr>
          <a:xfrm>
            <a:off x="571500" y="3857625"/>
            <a:ext cx="11049000" cy="1812607"/>
            <a:chOff x="571500" y="3857625"/>
            <a:chExt cx="11049000" cy="1812607"/>
          </a:xfrm>
        </p:grpSpPr>
        <p:sp>
          <p:nvSpPr>
            <p:cNvPr id="59" name="Rectangle 59"/>
            <p:cNvSpPr/>
            <p:nvPr/>
          </p:nvSpPr>
          <p:spPr>
            <a:xfrm>
              <a:off x="571500" y="3857625"/>
              <a:ext cx="11049000" cy="18097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75335" y="4002881"/>
              <a:ext cx="15921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UNITED STATES / USD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55876" y="4019074"/>
              <a:ext cx="38885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independent scale · do not compare bar length across panels</a:t>
              </a:r>
            </a:p>
          </p:txBody>
        </p:sp>
        <p:grpSp>
          <p:nvGrpSpPr>
            <p:cNvPr id="66" name="Group 66"/>
            <p:cNvGrpSpPr/>
            <p:nvPr/>
          </p:nvGrpSpPr>
          <p:grpSpPr>
            <a:xfrm>
              <a:off x="2857500" y="4381500"/>
              <a:ext cx="8191500" cy="1009650"/>
              <a:chOff x="2857500" y="4381500"/>
              <a:chExt cx="8191500" cy="1009650"/>
            </a:xfrm>
          </p:grpSpPr>
          <p:sp>
            <p:nvSpPr>
              <p:cNvPr id="62" name="Line 62"/>
              <p:cNvSpPr/>
              <p:nvPr/>
            </p:nvSpPr>
            <p:spPr>
              <a:xfrm>
                <a:off x="2857500" y="4381500"/>
                <a:ext cx="819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191500" h="9525">
                    <a:moveTo>
                      <a:pt x="0" y="0"/>
                    </a:moveTo>
                    <a:lnTo>
                      <a:pt x="8191500" y="0"/>
                    </a:lnTo>
                  </a:path>
                </a:pathLst>
              </a:custGeom>
              <a:noFill/>
              <a:ln w="9525">
                <a:solidFill>
                  <a:srgbClr val="D3CCC2"/>
                </a:solidFill>
              </a:ln>
            </p:spPr>
          </p:sp>
          <p:sp>
            <p:nvSpPr>
              <p:cNvPr id="63" name="Line 63"/>
              <p:cNvSpPr/>
              <p:nvPr/>
            </p:nvSpPr>
            <p:spPr>
              <a:xfrm>
                <a:off x="2857500" y="4714875"/>
                <a:ext cx="819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191500" h="9525">
                    <a:moveTo>
                      <a:pt x="0" y="0"/>
                    </a:moveTo>
                    <a:lnTo>
                      <a:pt x="8191500" y="0"/>
                    </a:lnTo>
                  </a:path>
                </a:pathLst>
              </a:custGeom>
              <a:noFill/>
              <a:ln w="9525">
                <a:solidFill>
                  <a:srgbClr val="D3CCC2"/>
                </a:solidFill>
              </a:ln>
            </p:spPr>
          </p:sp>
          <p:sp>
            <p:nvSpPr>
              <p:cNvPr id="64" name="Line 64"/>
              <p:cNvSpPr/>
              <p:nvPr/>
            </p:nvSpPr>
            <p:spPr>
              <a:xfrm>
                <a:off x="2857500" y="5048250"/>
                <a:ext cx="819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191500" h="9525">
                    <a:moveTo>
                      <a:pt x="0" y="0"/>
                    </a:moveTo>
                    <a:lnTo>
                      <a:pt x="8191500" y="0"/>
                    </a:lnTo>
                  </a:path>
                </a:pathLst>
              </a:custGeom>
              <a:noFill/>
              <a:ln w="9525">
                <a:solidFill>
                  <a:srgbClr val="D3CCC2"/>
                </a:solidFill>
              </a:ln>
            </p:spPr>
          </p:sp>
          <p:sp>
            <p:nvSpPr>
              <p:cNvPr id="65" name="Line 65"/>
              <p:cNvSpPr/>
              <p:nvPr/>
            </p:nvSpPr>
            <p:spPr>
              <a:xfrm>
                <a:off x="2857500" y="5381625"/>
                <a:ext cx="819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191500" h="9525">
                    <a:moveTo>
                      <a:pt x="0" y="0"/>
                    </a:moveTo>
                    <a:lnTo>
                      <a:pt x="8191500" y="0"/>
                    </a:lnTo>
                  </a:path>
                </a:pathLst>
              </a:custGeom>
              <a:noFill/>
              <a:ln w="9525">
                <a:solidFill>
                  <a:srgbClr val="D3CCC2"/>
                </a:solidFill>
              </a:ln>
            </p:spPr>
          </p:sp>
        </p:grpSp>
        <p:grpSp>
          <p:nvGrpSpPr>
            <p:cNvPr id="71" name="Group 71"/>
            <p:cNvGrpSpPr/>
            <p:nvPr/>
          </p:nvGrpSpPr>
          <p:grpSpPr>
            <a:xfrm>
              <a:off x="774954" y="4299585"/>
              <a:ext cx="1108009" cy="1234821"/>
              <a:chOff x="774954" y="4299585"/>
              <a:chExt cx="1108009" cy="1234821"/>
            </a:xfrm>
          </p:grpSpPr>
          <p:sp>
            <p:nvSpPr>
              <p:cNvPr id="67" name="TextBox 67"/>
              <p:cNvSpPr txBox="1"/>
              <p:nvPr/>
            </p:nvSpPr>
            <p:spPr>
              <a:xfrm>
                <a:off x="774954" y="4299585"/>
                <a:ext cx="53441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Chanel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774954" y="4632960"/>
                <a:ext cx="6114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Hermès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774954" y="4966335"/>
                <a:ext cx="110800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Louis Vuitton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774954" y="5299710"/>
                <a:ext cx="34763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Dior</a:t>
                </a:r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>
              <a:off x="3924300" y="4381500"/>
              <a:ext cx="6334125" cy="1009650"/>
              <a:chOff x="3924300" y="4381500"/>
              <a:chExt cx="6334125" cy="1009650"/>
            </a:xfrm>
          </p:grpSpPr>
          <p:sp>
            <p:nvSpPr>
              <p:cNvPr id="72" name="Line 72"/>
              <p:cNvSpPr/>
              <p:nvPr/>
            </p:nvSpPr>
            <p:spPr>
              <a:xfrm>
                <a:off x="5781675" y="4381500"/>
                <a:ext cx="4476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76750" h="9525">
                    <a:moveTo>
                      <a:pt x="0" y="0"/>
                    </a:moveTo>
                    <a:lnTo>
                      <a:pt x="447675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73" name="Line 73"/>
              <p:cNvSpPr/>
              <p:nvPr/>
            </p:nvSpPr>
            <p:spPr>
              <a:xfrm>
                <a:off x="4667250" y="4714875"/>
                <a:ext cx="5410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410200" h="9525">
                    <a:moveTo>
                      <a:pt x="0" y="0"/>
                    </a:moveTo>
                    <a:lnTo>
                      <a:pt x="541020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74" name="Line 74"/>
              <p:cNvSpPr/>
              <p:nvPr/>
            </p:nvSpPr>
            <p:spPr>
              <a:xfrm>
                <a:off x="3924300" y="5048250"/>
                <a:ext cx="1200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00150" h="9525">
                    <a:moveTo>
                      <a:pt x="0" y="0"/>
                    </a:moveTo>
                    <a:lnTo>
                      <a:pt x="120015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75" name="Line 75"/>
              <p:cNvSpPr/>
              <p:nvPr/>
            </p:nvSpPr>
            <p:spPr>
              <a:xfrm>
                <a:off x="4962525" y="5381625"/>
                <a:ext cx="933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33450" h="9525">
                    <a:moveTo>
                      <a:pt x="0" y="0"/>
                    </a:moveTo>
                    <a:lnTo>
                      <a:pt x="93345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</p:grpSp>
        <p:grpSp>
          <p:nvGrpSpPr>
            <p:cNvPr id="85" name="Group 85"/>
            <p:cNvGrpSpPr/>
            <p:nvPr/>
          </p:nvGrpSpPr>
          <p:grpSpPr>
            <a:xfrm>
              <a:off x="3924300" y="4305300"/>
              <a:ext cx="6343650" cy="1152525"/>
              <a:chOff x="3924300" y="4305300"/>
              <a:chExt cx="6343650" cy="1152525"/>
            </a:xfrm>
          </p:grpSpPr>
          <p:sp>
            <p:nvSpPr>
              <p:cNvPr id="77" name="Line 77"/>
              <p:cNvSpPr/>
              <p:nvPr/>
            </p:nvSpPr>
            <p:spPr>
              <a:xfrm>
                <a:off x="5781675" y="43053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78" name="Line 78"/>
              <p:cNvSpPr/>
              <p:nvPr/>
            </p:nvSpPr>
            <p:spPr>
              <a:xfrm>
                <a:off x="10258425" y="43053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79" name="Line 79"/>
              <p:cNvSpPr/>
              <p:nvPr/>
            </p:nvSpPr>
            <p:spPr>
              <a:xfrm>
                <a:off x="4667250" y="4638675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0" name="Line 80"/>
              <p:cNvSpPr/>
              <p:nvPr/>
            </p:nvSpPr>
            <p:spPr>
              <a:xfrm>
                <a:off x="10077450" y="4638675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1" name="Line 81"/>
              <p:cNvSpPr/>
              <p:nvPr/>
            </p:nvSpPr>
            <p:spPr>
              <a:xfrm>
                <a:off x="3924300" y="497205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2" name="Line 82"/>
              <p:cNvSpPr/>
              <p:nvPr/>
            </p:nvSpPr>
            <p:spPr>
              <a:xfrm>
                <a:off x="5124450" y="497205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3" name="Line 83"/>
              <p:cNvSpPr/>
              <p:nvPr/>
            </p:nvSpPr>
            <p:spPr>
              <a:xfrm>
                <a:off x="4962525" y="5305425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4" name="Line 84"/>
              <p:cNvSpPr/>
              <p:nvPr/>
            </p:nvSpPr>
            <p:spPr>
              <a:xfrm>
                <a:off x="5895975" y="5305425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grpSp>
          <p:nvGrpSpPr>
            <p:cNvPr id="90" name="Group 90"/>
            <p:cNvGrpSpPr/>
            <p:nvPr/>
          </p:nvGrpSpPr>
          <p:grpSpPr>
            <a:xfrm>
              <a:off x="4029075" y="4333875"/>
              <a:ext cx="2352675" cy="1095375"/>
              <a:chOff x="4029075" y="4333875"/>
              <a:chExt cx="2352675" cy="1095375"/>
            </a:xfrm>
          </p:grpSpPr>
          <p:sp>
            <p:nvSpPr>
              <p:cNvPr id="86" name="Ellipse 86"/>
              <p:cNvSpPr/>
              <p:nvPr/>
            </p:nvSpPr>
            <p:spPr>
              <a:xfrm>
                <a:off x="6286500" y="4333875"/>
                <a:ext cx="95250" cy="952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87" name="Ellipse 87"/>
              <p:cNvSpPr/>
              <p:nvPr/>
            </p:nvSpPr>
            <p:spPr>
              <a:xfrm>
                <a:off x="5553075" y="4667250"/>
                <a:ext cx="95250" cy="952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88" name="Ellipse 88"/>
              <p:cNvSpPr/>
              <p:nvPr/>
            </p:nvSpPr>
            <p:spPr>
              <a:xfrm>
                <a:off x="4029075" y="5000625"/>
                <a:ext cx="95250" cy="952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89" name="Ellipse 89"/>
              <p:cNvSpPr/>
              <p:nvPr/>
            </p:nvSpPr>
            <p:spPr>
              <a:xfrm>
                <a:off x="5267325" y="5334000"/>
                <a:ext cx="95250" cy="952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</p:grpSp>
        <p:grpSp>
          <p:nvGrpSpPr>
            <p:cNvPr id="95" name="Group 95"/>
            <p:cNvGrpSpPr/>
            <p:nvPr/>
          </p:nvGrpSpPr>
          <p:grpSpPr>
            <a:xfrm>
              <a:off x="4324350" y="4314825"/>
              <a:ext cx="2819400" cy="1133475"/>
              <a:chOff x="4324350" y="4314825"/>
              <a:chExt cx="2819400" cy="1133475"/>
            </a:xfrm>
          </p:grpSpPr>
          <p:sp>
            <p:nvSpPr>
              <p:cNvPr id="91" name="Ellipse 91"/>
              <p:cNvSpPr/>
              <p:nvPr/>
            </p:nvSpPr>
            <p:spPr>
              <a:xfrm>
                <a:off x="7010400" y="4314825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2" name="Ellipse 92"/>
              <p:cNvSpPr/>
              <p:nvPr/>
            </p:nvSpPr>
            <p:spPr>
              <a:xfrm>
                <a:off x="5715000" y="4648200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3" name="Ellipse 93"/>
              <p:cNvSpPr/>
              <p:nvPr/>
            </p:nvSpPr>
            <p:spPr>
              <a:xfrm>
                <a:off x="4324350" y="4981575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4" name="Ellipse 94"/>
              <p:cNvSpPr/>
              <p:nvPr/>
            </p:nvSpPr>
            <p:spPr>
              <a:xfrm>
                <a:off x="5133975" y="5314950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100" name="Group 100"/>
            <p:cNvGrpSpPr/>
            <p:nvPr/>
          </p:nvGrpSpPr>
          <p:grpSpPr>
            <a:xfrm>
              <a:off x="4371975" y="4333875"/>
              <a:ext cx="5095875" cy="1095375"/>
              <a:chOff x="4371975" y="4333875"/>
              <a:chExt cx="5095875" cy="1095375"/>
            </a:xfrm>
          </p:grpSpPr>
          <p:sp>
            <p:nvSpPr>
              <p:cNvPr id="96" name="Ellipse 96"/>
              <p:cNvSpPr/>
              <p:nvPr/>
            </p:nvSpPr>
            <p:spPr>
              <a:xfrm>
                <a:off x="9372600" y="4333875"/>
                <a:ext cx="95250" cy="952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97" name="Ellipse 97"/>
              <p:cNvSpPr/>
              <p:nvPr/>
            </p:nvSpPr>
            <p:spPr>
              <a:xfrm>
                <a:off x="6677025" y="4667250"/>
                <a:ext cx="95250" cy="952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98" name="Ellipse 98"/>
              <p:cNvSpPr/>
              <p:nvPr/>
            </p:nvSpPr>
            <p:spPr>
              <a:xfrm>
                <a:off x="4371975" y="5000625"/>
                <a:ext cx="95250" cy="952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99" name="Ellipse 99"/>
              <p:cNvSpPr/>
              <p:nvPr/>
            </p:nvSpPr>
            <p:spPr>
              <a:xfrm>
                <a:off x="5381625" y="5334000"/>
                <a:ext cx="95250" cy="952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2"/>
                </a:solidFill>
              </a:ln>
            </p:spPr>
          </p:sp>
        </p:grpSp>
        <p:grpSp>
          <p:nvGrpSpPr>
            <p:cNvPr id="105" name="Group 105"/>
            <p:cNvGrpSpPr/>
            <p:nvPr/>
          </p:nvGrpSpPr>
          <p:grpSpPr>
            <a:xfrm>
              <a:off x="4490847" y="4193616"/>
              <a:ext cx="3598675" cy="1178674"/>
              <a:chOff x="4490847" y="4193616"/>
              <a:chExt cx="3598675" cy="1178674"/>
            </a:xfrm>
          </p:grpSpPr>
          <p:sp>
            <p:nvSpPr>
              <p:cNvPr id="101" name="TextBox 101"/>
              <p:cNvSpPr txBox="1"/>
              <p:nvPr/>
            </p:nvSpPr>
            <p:spPr>
              <a:xfrm>
                <a:off x="7175912" y="4193616"/>
                <a:ext cx="91361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median $7,100</a:t>
                </a:r>
              </a:p>
            </p:txBody>
          </p:sp>
          <p:sp>
            <p:nvSpPr>
              <p:cNvPr id="102" name="TextBox 102"/>
              <p:cNvSpPr txBox="1"/>
              <p:nvPr/>
            </p:nvSpPr>
            <p:spPr>
              <a:xfrm>
                <a:off x="5942581" y="4559451"/>
                <a:ext cx="44526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$5,500</a:t>
                </a:r>
              </a:p>
            </p:txBody>
          </p:sp>
          <p:sp>
            <p:nvSpPr>
              <p:cNvPr id="103" name="TextBox 103"/>
              <p:cNvSpPr txBox="1"/>
              <p:nvPr/>
            </p:nvSpPr>
            <p:spPr>
              <a:xfrm>
                <a:off x="4490847" y="5086255"/>
                <a:ext cx="44526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$2,480</a:t>
                </a:r>
              </a:p>
            </p:txBody>
          </p:sp>
          <p:sp>
            <p:nvSpPr>
              <p:cNvPr id="104" name="TextBox 104"/>
              <p:cNvSpPr txBox="1"/>
              <p:nvPr/>
            </p:nvSpPr>
            <p:spPr>
              <a:xfrm>
                <a:off x="5300472" y="5181600"/>
                <a:ext cx="44526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$4,000</a:t>
                </a:r>
              </a:p>
            </p:txBody>
          </p:sp>
        </p:grpSp>
        <p:grpSp>
          <p:nvGrpSpPr>
            <p:cNvPr id="110" name="Group 110"/>
            <p:cNvGrpSpPr/>
            <p:nvPr/>
          </p:nvGrpSpPr>
          <p:grpSpPr>
            <a:xfrm>
              <a:off x="2819419" y="5494020"/>
              <a:ext cx="8334299" cy="176212"/>
              <a:chOff x="2819419" y="5494020"/>
              <a:chExt cx="8334299" cy="176212"/>
            </a:xfrm>
          </p:grpSpPr>
          <p:sp>
            <p:nvSpPr>
              <p:cNvPr id="106" name="TextBox 106"/>
              <p:cNvSpPr txBox="1"/>
              <p:nvPr/>
            </p:nvSpPr>
            <p:spPr>
              <a:xfrm>
                <a:off x="2819419" y="5494020"/>
                <a:ext cx="761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7B7771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107" name="TextBox 107"/>
              <p:cNvSpPr txBox="1"/>
              <p:nvPr/>
            </p:nvSpPr>
            <p:spPr>
              <a:xfrm>
                <a:off x="5519776" y="5494020"/>
                <a:ext cx="14279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7B7771"/>
                    </a:solidFill>
                    <a:latin typeface="+mn-lt"/>
                    <a:ea typeface="+mn-ea"/>
                    <a:cs typeface="+mn-cs"/>
                  </a:rPr>
                  <a:t>5k</a:t>
                </a:r>
              </a:p>
            </p:txBody>
          </p:sp>
          <p:sp>
            <p:nvSpPr>
              <p:cNvPr id="108" name="TextBox 108"/>
              <p:cNvSpPr txBox="1"/>
              <p:nvPr/>
            </p:nvSpPr>
            <p:spPr>
              <a:xfrm>
                <a:off x="8220132" y="5494020"/>
                <a:ext cx="20943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7B7771"/>
                    </a:solidFill>
                    <a:latin typeface="+mn-lt"/>
                    <a:ea typeface="+mn-ea"/>
                    <a:cs typeface="+mn-cs"/>
                  </a:rPr>
                  <a:t>10k</a:t>
                </a:r>
              </a:p>
            </p:txBody>
          </p:sp>
          <p:sp>
            <p:nvSpPr>
              <p:cNvPr id="109" name="TextBox 109"/>
              <p:cNvSpPr txBox="1"/>
              <p:nvPr/>
            </p:nvSpPr>
            <p:spPr>
              <a:xfrm>
                <a:off x="10944282" y="5494020"/>
                <a:ext cx="20943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7B7771"/>
                    </a:solidFill>
                    <a:latin typeface="+mn-lt"/>
                    <a:ea typeface="+mn-ea"/>
                    <a:cs typeface="+mn-cs"/>
                  </a:rPr>
                  <a:t>15k</a:t>
                </a:r>
              </a:p>
            </p:txBody>
          </p:sp>
        </p:grpSp>
      </p:grpSp>
      <p:grpSp>
        <p:nvGrpSpPr>
          <p:cNvPr id="115" name="Group 115"/>
          <p:cNvGrpSpPr/>
          <p:nvPr/>
        </p:nvGrpSpPr>
        <p:grpSpPr>
          <a:xfrm>
            <a:off x="565023" y="5977414"/>
            <a:ext cx="11060811" cy="763047"/>
            <a:chOff x="565023" y="5977414"/>
            <a:chExt cx="11060811" cy="763047"/>
          </a:xfrm>
        </p:grpSpPr>
        <p:sp>
          <p:nvSpPr>
            <p:cNvPr id="112" name="TextBox 112"/>
            <p:cNvSpPr txBox="1"/>
            <p:nvPr/>
          </p:nvSpPr>
          <p:spPr>
            <a:xfrm>
              <a:off x="565023" y="5977414"/>
              <a:ext cx="56358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Chanel 起点高；LV / Dior 更集中于低中价区；Hermès range 更宽。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566166" y="6249352"/>
              <a:ext cx="55990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Source: brand_price_summary.csv · each panel uses its own local currency scale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1141640" y="65351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04 / 14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9689" y="458152"/>
            <a:ext cx="11060811" cy="1227773"/>
            <a:chOff x="559689" y="458152"/>
            <a:chExt cx="11060811" cy="1227773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458152"/>
              <a:ext cx="2375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/ CHANEL PRICE LADDER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689" y="815816"/>
              <a:ext cx="5963564" cy="7976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23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Chanel 当前呈现两个明显价格集群，</a:t>
              </a:r>
              <a:br/>
              <a:r>
                <a:rPr lang="zh-CN" sz="23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Classic 与入门/核心产品之间存在可见跃升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6764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564642" y="1688306"/>
            <a:ext cx="6557912" cy="3623405"/>
            <a:chOff x="564642" y="1688306"/>
            <a:chExt cx="6557912" cy="3623405"/>
          </a:xfrm>
        </p:grpSpPr>
        <p:sp>
          <p:nvSpPr>
            <p:cNvPr id="6" name="TextBox 6"/>
            <p:cNvSpPr txBox="1"/>
            <p:nvPr/>
          </p:nvSpPr>
          <p:spPr>
            <a:xfrm>
              <a:off x="565785" y="1688306"/>
              <a:ext cx="2185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FRANCE / EUR · MAIN LADDER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4642" y="2045018"/>
              <a:ext cx="13781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入门 / 核心产品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6166" y="2344102"/>
              <a:ext cx="2789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Mini Classic · Shopping Bag · Bowling Bag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644484" y="2593393"/>
              <a:ext cx="895350" cy="3238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739957" y="2674372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€4,850–€6,700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2571750" y="2905125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295900" y="28289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565654" y="3051810"/>
              <a:ext cx="28024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本次采样中的可见价格间隔 · €3,300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4642" y="3721418"/>
              <a:ext cx="14853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Classic 高位锚点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6166" y="4020502"/>
              <a:ext cx="19573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Classic 11.12 · Small Classic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455679" y="2947840"/>
              <a:ext cx="1666875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583549" y="3441137"/>
              <a:ext cx="1255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€10,000–€12,250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571500" y="4552950"/>
              <a:ext cx="6524625" cy="9525"/>
            </a:xfrm>
            <a:custGeom>
              <a:avLst/>
              <a:gdLst/>
              <a:ahLst/>
              <a:cxnLst/>
              <a:rect l="l" t="t" r="r" b="b"/>
              <a:pathLst>
                <a:path w="6524625" h="9525">
                  <a:moveTo>
                    <a:pt x="0" y="0"/>
                  </a:moveTo>
                  <a:lnTo>
                    <a:pt x="6524625" y="0"/>
                  </a:lnTo>
                </a:path>
              </a:pathLst>
            </a:custGeom>
            <a:noFill/>
            <a:ln w="9525">
              <a:solidFill>
                <a:srgbClr val="B9B0A3"/>
              </a:solidFill>
              <a:custDash>
                <a:ds d="500000" sp="500000"/>
              </a:custDash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65785" y="4736306"/>
              <a:ext cx="39214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Price upon request · 6 条 Chanel 观察保留为非数值状态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6166" y="5106352"/>
              <a:ext cx="49579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间隔描述的是本次采样中的可见数值观察，不代表完整在售组合没有中间产品。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810500" y="1885950"/>
            <a:ext cx="3297479" cy="3714750"/>
            <a:chOff x="7810500" y="1885950"/>
            <a:chExt cx="3297479" cy="3714750"/>
          </a:xfrm>
        </p:grpSpPr>
        <p:sp>
          <p:nvSpPr>
            <p:cNvPr id="22" name="Line 22"/>
            <p:cNvSpPr/>
            <p:nvPr/>
          </p:nvSpPr>
          <p:spPr>
            <a:xfrm>
              <a:off x="7810500" y="1885950"/>
              <a:ext cx="9525" cy="3714750"/>
            </a:xfrm>
            <a:custGeom>
              <a:avLst/>
              <a:gdLst/>
              <a:ahLst/>
              <a:cxnLst/>
              <a:rect l="l" t="t" r="r" b="b"/>
              <a:pathLst>
                <a:path w="9525" h="3714750">
                  <a:moveTo>
                    <a:pt x="0" y="0"/>
                  </a:moveTo>
                  <a:lnTo>
                    <a:pt x="0" y="371475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85785" y="2069306"/>
              <a:ext cx="19769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US / USD · CONFIRMATION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84642" y="2483168"/>
              <a:ext cx="12234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Lower / core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191500" y="2781300"/>
              <a:ext cx="1123950" cy="304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24035" y="2878931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$5,400–$7,400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84642" y="3492818"/>
              <a:ext cx="9828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Visible gap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79308" y="3760470"/>
              <a:ext cx="11438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$3,600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84642" y="4483418"/>
              <a:ext cx="6581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Classic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191500" y="4781550"/>
              <a:ext cx="1562100" cy="30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852660" y="4879181"/>
              <a:ext cx="1255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$11,000–$13,500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86166" y="5296852"/>
              <a:ext cx="26539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unresolved states remain non-numeric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65023" y="5857875"/>
            <a:ext cx="11060811" cy="882586"/>
            <a:chOff x="565023" y="5857875"/>
            <a:chExt cx="11060811" cy="882586"/>
          </a:xfrm>
        </p:grpSpPr>
        <p:sp>
          <p:nvSpPr>
            <p:cNvPr id="34" name="Line 34"/>
            <p:cNvSpPr/>
            <p:nvPr/>
          </p:nvSpPr>
          <p:spPr>
            <a:xfrm>
              <a:off x="571500" y="58578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65023" y="6034564"/>
              <a:ext cx="59078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Chanel 有品牌内入口，但可见样本并非从入口均匀延伸至 Classic 锚点。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66166" y="6306502"/>
              <a:ext cx="59172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Source: family_price_summary.csv; chanel_fr_us_handbags_current/clean_data.csv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141640" y="65351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05 / 14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9689" y="458152"/>
            <a:ext cx="11060811" cy="1227773"/>
            <a:chOff x="559689" y="458152"/>
            <a:chExt cx="11060811" cy="1227773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458152"/>
              <a:ext cx="25378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 / HISTORICAL EVOLUTION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689" y="815816"/>
              <a:ext cx="6396685" cy="7976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23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历史数据表明 Chanel 不是 Classic 单独涨价，</a:t>
              </a:r>
              <a:br/>
              <a:r>
                <a:rPr lang="zh-CN" sz="23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而是在整体上移中长期维持高位 Classic 锚点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6764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</p:grpSp>
      <p:graphicFrame>
        <p:nvGraphicFramePr>
          <p:cNvPr id="6" name="chanel-historical-evolution"/>
          <p:cNvGraphicFramePr>
            <a:graphicFrameLocks noGrp="1"/>
          </p:cNvGraphicFramePr>
          <p:nvPr/>
        </p:nvGraphicFramePr>
        <p:xfrm>
          <a:off x="857250" y="2047875"/>
          <a:ext cx="66675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1" name="Group 11"/>
          <p:cNvGrpSpPr/>
          <p:nvPr/>
        </p:nvGrpSpPr>
        <p:grpSpPr>
          <a:xfrm>
            <a:off x="1047750" y="5363528"/>
            <a:ext cx="3515299" cy="205359"/>
            <a:chOff x="1047750" y="5363528"/>
            <a:chExt cx="3515299" cy="205359"/>
          </a:xfrm>
        </p:grpSpPr>
        <p:sp>
          <p:nvSpPr>
            <p:cNvPr id="7" name="Line 7"/>
            <p:cNvSpPr/>
            <p:nvPr/>
          </p:nvSpPr>
          <p:spPr>
            <a:xfrm>
              <a:off x="1047750" y="54292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23416" y="5363528"/>
              <a:ext cx="9902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Classic median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2857500" y="54292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33166" y="5363528"/>
              <a:ext cx="13298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Mini/access median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096250" y="1924050"/>
            <a:ext cx="2952750" cy="3662934"/>
            <a:chOff x="8096250" y="1924050"/>
            <a:chExt cx="2952750" cy="3662934"/>
          </a:xfrm>
        </p:grpSpPr>
        <p:sp>
          <p:nvSpPr>
            <p:cNvPr id="12" name="Line 12"/>
            <p:cNvSpPr/>
            <p:nvPr/>
          </p:nvSpPr>
          <p:spPr>
            <a:xfrm>
              <a:off x="8096250" y="192405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71535" y="2278856"/>
              <a:ext cx="613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CLASSIC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64296" y="2582228"/>
              <a:ext cx="12874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+18.1%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71916" y="3001328"/>
              <a:ext cx="7951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2022 → 2026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477250" y="3352800"/>
              <a:ext cx="2571750" cy="9525"/>
            </a:xfrm>
            <a:custGeom>
              <a:avLst/>
              <a:gdLst/>
              <a:ahLst/>
              <a:cxnLst/>
              <a:rect l="l" t="t" r="r" b="b"/>
              <a:pathLst>
                <a:path w="2571750" h="9525">
                  <a:moveTo>
                    <a:pt x="0" y="0"/>
                  </a:moveTo>
                  <a:lnTo>
                    <a:pt x="2571750" y="0"/>
                  </a:lnTo>
                </a:path>
              </a:pathLst>
            </a:custGeom>
            <a:noFill/>
            <a:ln w="9525">
              <a:solidFill>
                <a:srgbClr val="B9B0A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71535" y="3669506"/>
              <a:ext cx="10736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MINI / ACCESS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64296" y="3972878"/>
              <a:ext cx="12874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+16.5%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71916" y="4391978"/>
              <a:ext cx="7951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2022 → 2026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8477250" y="4743450"/>
              <a:ext cx="2571750" cy="9525"/>
            </a:xfrm>
            <a:custGeom>
              <a:avLst/>
              <a:gdLst/>
              <a:ahLst/>
              <a:cxnLst/>
              <a:rect l="l" t="t" r="r" b="b"/>
              <a:pathLst>
                <a:path w="2571750" h="9525">
                  <a:moveTo>
                    <a:pt x="0" y="0"/>
                  </a:moveTo>
                  <a:lnTo>
                    <a:pt x="2571750" y="0"/>
                  </a:lnTo>
                </a:path>
              </a:pathLst>
            </a:custGeom>
            <a:noFill/>
            <a:ln w="9525">
              <a:solidFill>
                <a:srgbClr val="B9B0A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71535" y="4974431"/>
              <a:ext cx="1107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ABSOLUTE GAP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68106" y="5234940"/>
              <a:ext cx="19901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€4,470 → €5,350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65404" y="5947410"/>
            <a:ext cx="11060430" cy="793051"/>
            <a:chOff x="565404" y="5947410"/>
            <a:chExt cx="11060430" cy="793051"/>
          </a:xfrm>
        </p:grpSpPr>
        <p:sp>
          <p:nvSpPr>
            <p:cNvPr id="24" name="TextBox 24"/>
            <p:cNvSpPr txBox="1"/>
            <p:nvPr/>
          </p:nvSpPr>
          <p:spPr>
            <a:xfrm>
              <a:off x="565404" y="5947410"/>
              <a:ext cx="70143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两组涨幅接近；结构变化的重点不是 Classic 单独暴涨，而是高位锚点与扩大绝对距离并存。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6166" y="6211252"/>
              <a:ext cx="55059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Ratio: 2.052× → 2.081× · no interpolation · selected Chanel France lineages only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6166" y="6439852"/>
              <a:ext cx="44890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Source: historical_pricing_calculations/icon_core_evolution.csv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141640" y="65351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06 / 14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9689" y="458152"/>
            <a:ext cx="11060811" cy="1227773"/>
            <a:chOff x="559689" y="458152"/>
            <a:chExt cx="11060811" cy="1227773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458152"/>
              <a:ext cx="25221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06 / STRATEGIC ARCHETYPES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689" y="815816"/>
              <a:ext cx="6829806" cy="7976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23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四个品牌并不是同一种 luxury premiumization，</a:t>
              </a:r>
              <a:br/>
              <a:r>
                <a:rPr lang="zh-CN" sz="23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而是采用了不同的价格架构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6764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</p:grpSp>
      <p:graphicFrame>
        <p:nvGraphicFramePr>
          <p:cNvPr id="6" name="brand-archetype-matrix"/>
          <p:cNvGraphicFramePr>
            <a:graphicFrameLocks noGrp="1"/>
          </p:cNvGraphicFramePr>
          <p:nvPr/>
        </p:nvGraphicFramePr>
        <p:xfrm>
          <a:off x="571500" y="1885950"/>
          <a:ext cx="11049000" cy="3238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9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9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Brand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Entry position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Current architecture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Historical pattern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Chanel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High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High entry + Classic anchor + two visible clusters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Broad repricing; absolute gap widened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Louis Vuitton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Low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Broad accessible lower/core ladder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Broad observed repricing while retaining accessibility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Dior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Medium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Compressed core / mid-premium ladder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Successor-heavy directional upward movement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Hermès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Broad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Wide multi-family ladder + upper tail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Sparse historical evidence; product-specific only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1" name="Group 11"/>
          <p:cNvGrpSpPr/>
          <p:nvPr/>
        </p:nvGrpSpPr>
        <p:grpSpPr>
          <a:xfrm>
            <a:off x="564642" y="5569268"/>
            <a:ext cx="11061192" cy="1171193"/>
            <a:chOff x="564642" y="5569268"/>
            <a:chExt cx="11061192" cy="1171193"/>
          </a:xfrm>
        </p:grpSpPr>
        <p:sp>
          <p:nvSpPr>
            <p:cNvPr id="7" name="TextBox 7"/>
            <p:cNvSpPr txBox="1"/>
            <p:nvPr/>
          </p:nvSpPr>
          <p:spPr>
            <a:xfrm>
              <a:off x="564642" y="5569268"/>
              <a:ext cx="57575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用处是识别价格层级与架构差异，不是给品牌分配单一“高低”排名。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6166" y="5887402"/>
              <a:ext cx="7584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Analytical synthesis from current pricing data + historical outputs; not official brand strategy statements.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6166" y="6144578"/>
              <a:ext cx="5287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Historical continuity and evidence boundaries are preserved in the appendix.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141640" y="65351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07 / 14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9689" y="458152"/>
            <a:ext cx="11060811" cy="1227773"/>
            <a:chOff x="559689" y="458152"/>
            <a:chExt cx="11060811" cy="1227773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458152"/>
              <a:ext cx="21994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07 / CHANEL DIFFERENCE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689" y="815816"/>
              <a:ext cx="5081854" cy="7976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23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Chanel 的差异来自价格架构的组合，</a:t>
              </a:r>
              <a:br/>
              <a:r>
                <a:rPr lang="zh-CN" sz="23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而不是某一个单独的高价产品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6764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555498" y="1952625"/>
            <a:ext cx="9977628" cy="3429000"/>
            <a:chOff x="555498" y="1952625"/>
            <a:chExt cx="9977628" cy="3429000"/>
          </a:xfrm>
        </p:grpSpPr>
        <p:sp>
          <p:nvSpPr>
            <p:cNvPr id="6" name="Line 6"/>
            <p:cNvSpPr/>
            <p:nvPr/>
          </p:nvSpPr>
          <p:spPr>
            <a:xfrm>
              <a:off x="4238625" y="195262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B9B0A3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905750" y="195262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B9B0A3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64642" y="21402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3118" y="2507932"/>
              <a:ext cx="26275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Higher Entry Threshold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5498" y="2879408"/>
              <a:ext cx="150134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€4,850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3880" y="3362325"/>
              <a:ext cx="27725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Chanel lowest observed / FR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5404" y="3928110"/>
              <a:ext cx="1905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LV €1,800 · Dior €3,000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5404" y="4423410"/>
              <a:ext cx="27401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higher visible starting point</a:t>
              </a:r>
              <a:br>
                <a:rPr dirty="0"/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than the lower-tier comparison set.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22267" y="21402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20743" y="2507932"/>
              <a:ext cx="24993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Strong Classic Anchor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13123" y="2879408"/>
              <a:ext cx="125645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1.81×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21505" y="3362325"/>
              <a:ext cx="32448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Classic / non-Classic median / FR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23029" y="3928110"/>
              <a:ext cx="18524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US confirmation: 1.80×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23029" y="4423410"/>
              <a:ext cx="26410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Classic is not a smooth extension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of the ordinary core price cluster.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89392" y="21402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87868" y="2507932"/>
              <a:ext cx="20543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Thin Visible Middle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80248" y="2879408"/>
              <a:ext cx="150134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€3,300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88630" y="3362325"/>
              <a:ext cx="15032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visible gap / FR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90154" y="3928110"/>
              <a:ext cx="1941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US confirmation: $3,600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90154" y="4423410"/>
              <a:ext cx="244297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thin visible numeric bridge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between lower/core and Classic.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64642" y="5667375"/>
            <a:ext cx="11061192" cy="1073086"/>
            <a:chOff x="564642" y="5667375"/>
            <a:chExt cx="11061192" cy="1073086"/>
          </a:xfrm>
        </p:grpSpPr>
        <p:sp>
          <p:nvSpPr>
            <p:cNvPr id="27" name="Line 27"/>
            <p:cNvSpPr/>
            <p:nvPr/>
          </p:nvSpPr>
          <p:spPr>
            <a:xfrm>
              <a:off x="571500" y="56673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64642" y="5855018"/>
              <a:ext cx="68081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这三个结构同时出现，才构成 Chanel 当前 distinctive pricing architecture。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6166" y="6144578"/>
              <a:ext cx="68568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Observed price position only · not affordability, demand, or causal brand-equity premium evidence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141640" y="65351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08 / 14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9689" y="458152"/>
            <a:ext cx="11060811" cy="1227773"/>
            <a:chOff x="559689" y="458152"/>
            <a:chExt cx="11060811" cy="1227773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458152"/>
              <a:ext cx="26824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08 / STRATEGIC IMPLICATIONS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689" y="815816"/>
              <a:ext cx="5901690" cy="7976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23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这一价格架构强化 Classic 的价格识别度，</a:t>
              </a:r>
              <a:br/>
              <a:r>
                <a:rPr lang="zh-CN" sz="23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但同时形成更高进入门槛和较薄的中间梯度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6764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564261" y="1990249"/>
            <a:ext cx="11056239" cy="3585210"/>
            <a:chOff x="564261" y="1990249"/>
            <a:chExt cx="11056239" cy="3585210"/>
          </a:xfrm>
        </p:grpSpPr>
        <p:grpSp>
          <p:nvGrpSpPr>
            <p:cNvPr id="10" name="Group 10"/>
            <p:cNvGrpSpPr/>
            <p:nvPr/>
          </p:nvGrpSpPr>
          <p:grpSpPr>
            <a:xfrm>
              <a:off x="566547" y="1990249"/>
              <a:ext cx="9255685" cy="190690"/>
              <a:chOff x="566547" y="1990249"/>
              <a:chExt cx="9255685" cy="190690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566547" y="1990249"/>
                <a:ext cx="73441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STRUCTURE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3138297" y="1990249"/>
                <a:ext cx="91736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OBSERVATION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281547" y="1990249"/>
                <a:ext cx="84418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IMPLICATION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9139047" y="1990249"/>
                <a:ext cx="68318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BOUNDARY</a:t>
                </a:r>
              </a:p>
            </p:txBody>
          </p:sp>
        </p:grpSp>
        <p:sp>
          <p:nvSpPr>
            <p:cNvPr id="11" name="Line 11"/>
            <p:cNvSpPr/>
            <p:nvPr/>
          </p:nvSpPr>
          <p:spPr>
            <a:xfrm>
              <a:off x="571500" y="22383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71500" y="3143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B9B0A3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571500" y="40481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B9B0A3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571500" y="4953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B9B0A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64261" y="2475071"/>
              <a:ext cx="16867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Access threshold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37535" y="2431256"/>
              <a:ext cx="114935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较高最低观察价格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€4,850 / $5,400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80785" y="2431256"/>
              <a:ext cx="143383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stronger exclusivity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signal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138285" y="2431256"/>
              <a:ext cx="1320038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not affordability /</a:t>
              </a:r>
              <a:br/>
              <a:r>
                <a:rPr lang="zh-CN" sz="112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demand evidence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4261" y="3379946"/>
              <a:ext cx="14155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Classic anchor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137535" y="3336131"/>
              <a:ext cx="1341374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约 1.8× non-Classic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median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80785" y="3336131"/>
              <a:ext cx="107823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clear signature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price anchor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138285" y="3336131"/>
              <a:ext cx="1234694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not causal brand-</a:t>
              </a:r>
              <a:br/>
              <a:r>
                <a:rPr lang="zh-CN" sz="112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equity premium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4261" y="4284821"/>
              <a:ext cx="17467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Ladder continuity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37535" y="4241006"/>
              <a:ext cx="1440942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visible €3.3k / $3.6k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gap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80785" y="4241006"/>
              <a:ext cx="772414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thin visible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middle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138285" y="4241006"/>
              <a:ext cx="879094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sample ≠ full</a:t>
              </a:r>
              <a:br/>
              <a:r>
                <a:rPr lang="zh-CN" sz="112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assortment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4261" y="5189696"/>
              <a:ext cx="15662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Competitive set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137535" y="5145881"/>
              <a:ext cx="1960118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LV / Dior below;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Hermès more relevant above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80785" y="5145881"/>
              <a:ext cx="1106678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competitive set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changes by tier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138285" y="5145881"/>
              <a:ext cx="1312926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not consumer</a:t>
              </a:r>
              <a:br/>
              <a:r>
                <a:rPr lang="zh-CN" sz="112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substitution share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66166" y="6220778"/>
            <a:ext cx="11059668" cy="519683"/>
            <a:chOff x="566166" y="6220778"/>
            <a:chExt cx="11059668" cy="519683"/>
          </a:xfrm>
        </p:grpSpPr>
        <p:sp>
          <p:nvSpPr>
            <p:cNvPr id="32" name="TextBox 32"/>
            <p:cNvSpPr txBox="1"/>
            <p:nvPr/>
          </p:nvSpPr>
          <p:spPr>
            <a:xfrm>
              <a:off x="566166" y="6220778"/>
              <a:ext cx="6863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Implications are structural readings of observed list prices; they do not imply management intent.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141640" y="65351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09 / 14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58546" y="458152"/>
            <a:ext cx="11061954" cy="1289305"/>
            <a:chOff x="558546" y="458152"/>
            <a:chExt cx="11061954" cy="1289305"/>
          </a:xfrm>
        </p:grpSpPr>
        <p:sp>
          <p:nvSpPr>
            <p:cNvPr id="3" name="TextBox 3"/>
            <p:cNvSpPr txBox="1"/>
            <p:nvPr/>
          </p:nvSpPr>
          <p:spPr>
            <a:xfrm>
              <a:off x="566166" y="458152"/>
              <a:ext cx="19080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09 / FINAL TAKEAWAY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8546" y="848678"/>
              <a:ext cx="7829883" cy="8987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Chanel 的 pricing strategy 核心是：</a:t>
              </a:r>
              <a:br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整体价格体系上移，同时长期维持 Classic 高位锚点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1581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52450" y="1958340"/>
            <a:ext cx="4400550" cy="2789111"/>
            <a:chOff x="552450" y="1958340"/>
            <a:chExt cx="4400550" cy="2789111"/>
          </a:xfrm>
        </p:grpSpPr>
        <p:sp>
          <p:nvSpPr>
            <p:cNvPr id="7" name="TextBox 7"/>
            <p:cNvSpPr txBox="1"/>
            <p:nvPr/>
          </p:nvSpPr>
          <p:spPr>
            <a:xfrm>
              <a:off x="552450" y="1958340"/>
              <a:ext cx="41126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“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7082" y="2630805"/>
              <a:ext cx="2821686" cy="791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不是所有产品都更贵，</a:t>
              </a:r>
              <a:br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而是价格架构更清晰。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047750" y="3638550"/>
              <a:ext cx="3905250" cy="9525"/>
            </a:xfrm>
            <a:custGeom>
              <a:avLst/>
              <a:gdLst/>
              <a:ahLst/>
              <a:cxnLst/>
              <a:rect l="l" t="t" r="r" b="b"/>
              <a:pathLst>
                <a:path w="3905250" h="9525">
                  <a:moveTo>
                    <a:pt x="0" y="0"/>
                  </a:moveTo>
                  <a:lnTo>
                    <a:pt x="39052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40892" y="3950018"/>
              <a:ext cx="2302574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higher entry threshold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 persistent Classic anchor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 thin visible middle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67500" y="2047875"/>
            <a:ext cx="4381500" cy="2857500"/>
            <a:chOff x="6667500" y="2047875"/>
            <a:chExt cx="4381500" cy="2857500"/>
          </a:xfrm>
        </p:grpSpPr>
        <p:sp>
          <p:nvSpPr>
            <p:cNvPr id="12" name="Line 12"/>
            <p:cNvSpPr/>
            <p:nvPr/>
          </p:nvSpPr>
          <p:spPr>
            <a:xfrm>
              <a:off x="6667500" y="2047875"/>
              <a:ext cx="9525" cy="2857500"/>
            </a:xfrm>
            <a:custGeom>
              <a:avLst/>
              <a:gdLst/>
              <a:ahLst/>
              <a:cxnLst/>
              <a:rect l="l" t="t" r="r" b="b"/>
              <a:pathLst>
                <a:path w="9525" h="2857500">
                  <a:moveTo>
                    <a:pt x="0" y="0"/>
                  </a:moveTo>
                  <a:lnTo>
                    <a:pt x="0" y="285750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089267" y="228314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64755" y="2266950"/>
              <a:ext cx="30222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Competition is tier-specific.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7096125" y="2667000"/>
              <a:ext cx="3952875" cy="9525"/>
            </a:xfrm>
            <a:custGeom>
              <a:avLst/>
              <a:gdLst/>
              <a:ahLst/>
              <a:cxnLst/>
              <a:rect l="l" t="t" r="r" b="b"/>
              <a:pathLst>
                <a:path w="3952875" h="9525">
                  <a:moveTo>
                    <a:pt x="0" y="0"/>
                  </a:moveTo>
                  <a:lnTo>
                    <a:pt x="3952875" y="0"/>
                  </a:lnTo>
                </a:path>
              </a:pathLst>
            </a:custGeom>
            <a:noFill/>
            <a:ln w="9525">
              <a:solidFill>
                <a:srgbClr val="B9B0A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089267" y="29975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64755" y="2981325"/>
              <a:ext cx="34461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Chanel is structurally different,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64755" y="3248025"/>
              <a:ext cx="28139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not simply more expensive.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096125" y="3657600"/>
              <a:ext cx="3952875" cy="9525"/>
            </a:xfrm>
            <a:custGeom>
              <a:avLst/>
              <a:gdLst/>
              <a:ahLst/>
              <a:cxnLst/>
              <a:rect l="l" t="t" r="r" b="b"/>
              <a:pathLst>
                <a:path w="3952875" h="9525">
                  <a:moveTo>
                    <a:pt x="0" y="0"/>
                  </a:moveTo>
                  <a:lnTo>
                    <a:pt x="3952875" y="0"/>
                  </a:lnTo>
                </a:path>
              </a:pathLst>
            </a:custGeom>
            <a:noFill/>
            <a:ln w="9525">
              <a:solidFill>
                <a:srgbClr val="B9B0A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89267" y="39881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64755" y="3971925"/>
              <a:ext cx="34355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History supports broad repricing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64755" y="4238625"/>
              <a:ext cx="29696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+ persistent Classic anchor.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63880" y="5381625"/>
            <a:ext cx="11061954" cy="1358836"/>
            <a:chOff x="563880" y="5381625"/>
            <a:chExt cx="11061954" cy="1358836"/>
          </a:xfrm>
        </p:grpSpPr>
        <p:sp>
          <p:nvSpPr>
            <p:cNvPr id="24" name="Line 24"/>
            <p:cNvSpPr/>
            <p:nvPr/>
          </p:nvSpPr>
          <p:spPr>
            <a:xfrm>
              <a:off x="571500" y="53816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3880" y="5600700"/>
              <a:ext cx="83124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This is a competitive positioning diagnosis — not a future price recommendation.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6166" y="5935028"/>
              <a:ext cx="62559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Evidence source: current and historical structured pricing outputs · main deck conclusion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141640" y="65351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10 / 14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9308" y="458152"/>
            <a:ext cx="11061192" cy="932498"/>
            <a:chOff x="559308" y="458152"/>
            <a:chExt cx="11061192" cy="932498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458152"/>
              <a:ext cx="2621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APPENDIX A / DATA COVERAGE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807720"/>
              <a:ext cx="986241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当前与历史面板覆盖充分支撑结构判断，但不等同于全量产品普查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3811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</p:grpSp>
      <p:graphicFrame>
        <p:nvGraphicFramePr>
          <p:cNvPr id="6" name="current-coverage-table"/>
          <p:cNvGraphicFramePr>
            <a:graphicFrameLocks noGrp="1"/>
          </p:cNvGraphicFramePr>
          <p:nvPr/>
        </p:nvGraphicFramePr>
        <p:xfrm>
          <a:off x="571500" y="1666875"/>
          <a:ext cx="11049000" cy="1952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32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0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Brand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Accepted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Numeric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Non-numeric / unresolved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 / US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Chanel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price-upon-request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/ 21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Hermès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/ 20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Louis Vuitton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/ 20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Dior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unresolved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/ 20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historical-coverage-table"/>
          <p:cNvGraphicFramePr>
            <a:graphicFrameLocks noGrp="1"/>
          </p:cNvGraphicFramePr>
          <p:nvPr/>
        </p:nvGraphicFramePr>
        <p:xfrm>
          <a:off x="571500" y="3857625"/>
          <a:ext cx="11049000" cy="1809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4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4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25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4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41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417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ctr"/>
                      <a:r>
                        <a:rPr lang="zh-CN" sz="9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Brand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9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Accepted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9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Numeric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9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Noncurrent historical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9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Lineages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9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Same-model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9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Successor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lang="zh-CN" sz="98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Chanel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98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98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98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98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98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98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lang="zh-CN" sz="98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Hermès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98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98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98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98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98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98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lang="zh-CN" sz="98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Louis Vuitton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98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98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98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98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98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98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lang="zh-CN" sz="98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Dior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98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98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98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98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98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98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1" name="Group 11"/>
          <p:cNvGrpSpPr/>
          <p:nvPr/>
        </p:nvGrpSpPr>
        <p:grpSpPr>
          <a:xfrm>
            <a:off x="565404" y="5966460"/>
            <a:ext cx="11060430" cy="774001"/>
            <a:chOff x="565404" y="5966460"/>
            <a:chExt cx="11060430" cy="774001"/>
          </a:xfrm>
        </p:grpSpPr>
        <p:sp>
          <p:nvSpPr>
            <p:cNvPr id="8" name="TextBox 8"/>
            <p:cNvSpPr txBox="1"/>
            <p:nvPr/>
          </p:nvSpPr>
          <p:spPr>
            <a:xfrm>
              <a:off x="565404" y="5966460"/>
              <a:ext cx="72126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当前样本 161 accepted / 147 numeric；历史面板 77 accepted / 76 numeric / 13 lineages。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6166" y="6230302"/>
              <a:ext cx="50405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Missing years are not zero changes; current missingness is asymmetric.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141640" y="65351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11 / 14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9308" y="458152"/>
            <a:ext cx="11061192" cy="932498"/>
            <a:chOff x="559308" y="458152"/>
            <a:chExt cx="11061192" cy="932498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458152"/>
              <a:ext cx="29760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APPENDIX B / COMPARABLE CELLS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807720"/>
              <a:ext cx="1080223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方向性可比单元支持 Chanel 在部分 France tote cells 中处于更高位置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3811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</p:grpSp>
      <p:graphicFrame>
        <p:nvGraphicFramePr>
          <p:cNvPr id="6" name="fr-comparable-cells"/>
          <p:cNvGraphicFramePr>
            <a:graphicFrameLocks noGrp="1"/>
          </p:cNvGraphicFramePr>
          <p:nvPr/>
        </p:nvGraphicFramePr>
        <p:xfrm>
          <a:off x="571500" y="1762125"/>
          <a:ext cx="11049000" cy="285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6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32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89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04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8215"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France cell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Brand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Brand median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Index benchmark 100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Confidence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215"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tote · large · leather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CHANEL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€6,200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153.09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medium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tote · large · leather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Dior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€3,350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82.72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medium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tote · large · leather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Hermès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€6,475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159.88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medium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tote · standard · leather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CHANEL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€5,700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167.65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medium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tote · standard · leather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Dior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€3,400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100.00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medium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tote · standard · leather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Louis Vuitton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€2,900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85.29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low-medium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2" name="Group 12"/>
          <p:cNvGrpSpPr/>
          <p:nvPr/>
        </p:nvGrpSpPr>
        <p:grpSpPr>
          <a:xfrm>
            <a:off x="565023" y="5000625"/>
            <a:ext cx="11060811" cy="1739836"/>
            <a:chOff x="565023" y="5000625"/>
            <a:chExt cx="11060811" cy="1739836"/>
          </a:xfrm>
        </p:grpSpPr>
        <p:sp>
          <p:nvSpPr>
            <p:cNvPr id="7" name="Line 7"/>
            <p:cNvSpPr/>
            <p:nvPr/>
          </p:nvSpPr>
          <p:spPr>
            <a:xfrm>
              <a:off x="571500" y="50006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65023" y="5243989"/>
              <a:ext cx="68859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读法：Chanel 在两个 France tote cells 中高于 Dior / LV，并接近或低于 Hermès。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6166" y="5554028"/>
              <a:ext cx="64068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指数 = 品牌单元中位数 ÷ 单元合并中位数 × 100 · 宽口径单元用于方向性比较，不代表严格同款替代。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6166" y="5820728"/>
              <a:ext cx="56679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Source: comparable_cell_price_index.csv · N=1 cells remain low-medium evidence.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141640" y="65351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12 / 14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9308" y="458152"/>
            <a:ext cx="11061192" cy="932498"/>
            <a:chOff x="559308" y="458152"/>
            <a:chExt cx="11061192" cy="932498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458152"/>
              <a:ext cx="29817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APPENDIX C / EVIDENCE STRENGTH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807720"/>
              <a:ext cx="973263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历史证据强度不对称，Chanel 最适合支撑自身架构演变的主结论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3811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</p:grpSp>
      <p:graphicFrame>
        <p:nvGraphicFramePr>
          <p:cNvPr id="6" name="historical-evidence-matrix"/>
          <p:cNvGraphicFramePr>
            <a:graphicFrameLocks noGrp="1"/>
          </p:cNvGraphicFramePr>
          <p:nvPr/>
        </p:nvGraphicFramePr>
        <p:xfrm>
          <a:off x="571500" y="1762125"/>
          <a:ext cx="11049000" cy="2905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6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21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48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685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Brand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Same-model continuous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Model successor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Evidence strength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Boundary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Chanel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Strongest selected France paths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US history insufficient; selected lineages only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Louis Vuitton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Moderate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Some continuous; successor paths directional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Dior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Directional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 accepted same-model continuous line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Hermès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Sparse / conflict-sensitive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Geta conflict; product-specific only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2" name="Group 12"/>
          <p:cNvGrpSpPr/>
          <p:nvPr/>
        </p:nvGrpSpPr>
        <p:grpSpPr>
          <a:xfrm>
            <a:off x="565023" y="5000625"/>
            <a:ext cx="11060811" cy="1739836"/>
            <a:chOff x="565023" y="5000625"/>
            <a:chExt cx="11060811" cy="1739836"/>
          </a:xfrm>
        </p:grpSpPr>
        <p:sp>
          <p:nvSpPr>
            <p:cNvPr id="7" name="Line 7"/>
            <p:cNvSpPr/>
            <p:nvPr/>
          </p:nvSpPr>
          <p:spPr>
            <a:xfrm>
              <a:off x="571500" y="50006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65023" y="5243989"/>
              <a:ext cx="63454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历史数据可解释产品线与架构形成线索，但不形成四品牌同等精度的涨价排名。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6166" y="5554028"/>
              <a:ext cx="87813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SAME_MODEL_CONTINUOUS supports stronger across-period wording; MODEL_SUCCESSOR supports directional movement only.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6166" y="5820728"/>
              <a:ext cx="64894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Source: historical_data_readiness.csv; brand_historical_summary.csv; product_lineage.csv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141640" y="65351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13 / 14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9308" y="458152"/>
            <a:ext cx="11061192" cy="1114235"/>
            <a:chOff x="559308" y="458152"/>
            <a:chExt cx="11061192" cy="1114235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458152"/>
              <a:ext cx="30130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APPENDIX D / FRANCE–US MAPPING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741045"/>
              <a:ext cx="9657588" cy="831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France–US 比值只说明 exact-reference local display mapping，</a:t>
              </a:r>
              <a:br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不是 geographic premium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524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</p:grpSp>
      <p:graphicFrame>
        <p:nvGraphicFramePr>
          <p:cNvPr id="6" name="fr-us-local-mapping"/>
          <p:cNvGraphicFramePr>
            <a:graphicFrameLocks noGrp="1"/>
          </p:cNvGraphicFramePr>
          <p:nvPr/>
        </p:nvGraphicFramePr>
        <p:xfrm>
          <a:off x="571500" y="1762125"/>
          <a:ext cx="11049000" cy="238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21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74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69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74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338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Brand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Exact pairs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Min ratio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Median ratio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 ratio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Interpretation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zh-CN"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Chanel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1.10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1.11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1.14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local display mapping only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zh-CN"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Dior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1.16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1.19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1.22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local display mapping only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zh-CN"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Louis Vuitton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1.24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1.24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1.30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local display mapping only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zh-CN"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Hermès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1.44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1.44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1.45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local display mapping only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9B0A3"/>
                      </a:solidFill>
                      <a:prstDash val="solid"/>
                    </a:lnL>
                    <a:lnR w="9525">
                      <a:solidFill>
                        <a:srgbClr val="B9B0A3"/>
                      </a:solidFill>
                      <a:prstDash val="solid"/>
                    </a:lnR>
                    <a:lnT w="9525">
                      <a:solidFill>
                        <a:srgbClr val="B9B0A3"/>
                      </a:solidFill>
                      <a:prstDash val="solid"/>
                    </a:lnT>
                    <a:lnB w="9525">
                      <a:solidFill>
                        <a:srgbClr val="B9B0A3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3" name="Group 13"/>
          <p:cNvGrpSpPr/>
          <p:nvPr/>
        </p:nvGrpSpPr>
        <p:grpSpPr>
          <a:xfrm>
            <a:off x="563118" y="4572000"/>
            <a:ext cx="11062716" cy="2168461"/>
            <a:chOff x="563118" y="4572000"/>
            <a:chExt cx="11062716" cy="2168461"/>
          </a:xfrm>
        </p:grpSpPr>
        <p:sp>
          <p:nvSpPr>
            <p:cNvPr id="7" name="Line 7"/>
            <p:cNvSpPr/>
            <p:nvPr/>
          </p:nvSpPr>
          <p:spPr>
            <a:xfrm>
              <a:off x="571500" y="4572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63118" y="4822508"/>
              <a:ext cx="68913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No FX / VAT / sales tax / duties / landed cost normalization.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4642" y="5207318"/>
              <a:ext cx="64562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因此不能写成 geographic premium、market markup 或经济意义上的价格差。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5785" y="5641181"/>
              <a:ext cx="6083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Exact-reference local display mapping only · Source: fr_us_mapping_summary.csv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5785" y="5974556"/>
              <a:ext cx="54518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End of deck · main conclusion remains a competitive positioning diagnosis.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141640" y="65351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B7771"/>
                  </a:solidFill>
                  <a:latin typeface="+mn-lt"/>
                  <a:ea typeface="+mn-ea"/>
                  <a:cs typeface="+mn-cs"/>
                </a:rPr>
                <a:t>14 / 14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luxury_handbag_pricing_strategy_final">
  <a:themeElements>
    <a:clrScheme name="luxury_handbag_pricing_strategy_final">
      <a:dk1>
        <a:srgbClr val="2F3032"/>
      </a:dk1>
      <a:lt1>
        <a:srgbClr val="F6F3EE"/>
      </a:lt1>
      <a:dk2>
        <a:srgbClr val="1F497D"/>
      </a:dk2>
      <a:lt2>
        <a:srgbClr val="F6F3EE"/>
      </a:lt2>
      <a:accent1>
        <a:srgbClr val="111111"/>
      </a:accent1>
      <a:accent2>
        <a:srgbClr val="C87445"/>
      </a:accent2>
      <a:accent3>
        <a:srgbClr val="8F806B"/>
      </a:accent3>
      <a:accent4>
        <a:srgbClr val="111111"/>
      </a:accent4>
      <a:accent5>
        <a:srgbClr val="ECE7DE"/>
      </a:accent5>
      <a:accent6>
        <a:srgbClr val="F79646"/>
      </a:accent6>
      <a:hlink>
        <a:srgbClr val="C87445"/>
      </a:hlink>
      <a:folHlink>
        <a:srgbClr val="8F806B"/>
      </a:folHlink>
    </a:clrScheme>
    <a:fontScheme name="luxury_handbag_pricing_strategy_final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uxury_handbag_pricing_strategy_fin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uxury_handbag_pricing_strategy_final">
  <a:themeElements>
    <a:clrScheme name="luxury_handbag_pricing_strategy_final">
      <a:dk1>
        <a:srgbClr val="2F3032"/>
      </a:dk1>
      <a:lt1>
        <a:srgbClr val="F6F3EE"/>
      </a:lt1>
      <a:dk2>
        <a:srgbClr val="1F497D"/>
      </a:dk2>
      <a:lt2>
        <a:srgbClr val="F6F3EE"/>
      </a:lt2>
      <a:accent1>
        <a:srgbClr val="111111"/>
      </a:accent1>
      <a:accent2>
        <a:srgbClr val="C87445"/>
      </a:accent2>
      <a:accent3>
        <a:srgbClr val="8F806B"/>
      </a:accent3>
      <a:accent4>
        <a:srgbClr val="111111"/>
      </a:accent4>
      <a:accent5>
        <a:srgbClr val="ECE7DE"/>
      </a:accent5>
      <a:accent6>
        <a:srgbClr val="F79646"/>
      </a:accent6>
      <a:hlink>
        <a:srgbClr val="C87445"/>
      </a:hlink>
      <a:folHlink>
        <a:srgbClr val="8F806B"/>
      </a:folHlink>
    </a:clrScheme>
    <a:fontScheme name="luxury_handbag_pricing_strategy_final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uxury_handbag_pricing_strategy_fin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2780</Words>
  <Application>Microsoft Macintosh PowerPoint</Application>
  <PresentationFormat>宽屏</PresentationFormat>
  <Paragraphs>395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Microsoft YaHei</vt:lpstr>
      <vt:lpstr>Arial</vt:lpstr>
      <vt:lpstr>luxury_handbag_pricing_strategy_final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a18579409785@gmail.com</cp:lastModifiedBy>
  <cp:revision>2</cp:revision>
  <dcterms:created xsi:type="dcterms:W3CDTF">2026-08-19T09:33:53Z</dcterms:created>
  <dcterms:modified xsi:type="dcterms:W3CDTF">2026-08-19T09:44:27Z</dcterms:modified>
  <cp:category/>
  <cp:contentStatus/>
  <dc:language>zh-CN</dc:language>
</cp:coreProperties>
</file>